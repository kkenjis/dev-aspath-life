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まず全員が「0. 2つの道」を読む。そこで自分の作業がどちらか判断できる。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8冊の役割分担。レクチャーでは基本編を使う。他は必要になったときに開く。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固定ページの文章はテーマの中にある。だからWordPressの編集画面には出てこない。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10312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ASPATH サイト更新マニュアル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60120" y="3200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引継ぎ資料　／　2026年8月23日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914400" y="4114800"/>
            <a:ext cx="5852160" cy="1371600"/>
          </a:xfrm>
          <a:prstGeom prst="roundRect">
            <a:avLst>
              <a:gd name="adj" fmla="val 8000"/>
            </a:avLst>
          </a:prstGeom>
          <a:solidFill>
            <a:srgbClr val="32596B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4315968"/>
            <a:ext cx="5394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DCE7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この資料は「追記しながら育てる」前提で作っています。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DCE7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新しい作業を覚えたら、その日のうちに書き足してください。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この資料の読み方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自分に関係する章だけ読めば済むようにしてあります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6F7F8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1773936"/>
            <a:ext cx="347472" cy="347472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01368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325880" y="1810512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2つの道（どちらの作業か見分ける）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0" y="181051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2258568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6F7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7240" y="2340864"/>
            <a:ext cx="347472" cy="347472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2368296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25880" y="237744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記事を書く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0" y="23774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山口様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2825496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6F7F8"/>
          </a:solidFill>
          <a:ln/>
        </p:spPr>
      </p:sp>
      <p:sp>
        <p:nvSpPr>
          <p:cNvPr id="16" name="Shape 14"/>
          <p:cNvSpPr/>
          <p:nvPr/>
        </p:nvSpPr>
        <p:spPr>
          <a:xfrm>
            <a:off x="777240" y="2907792"/>
            <a:ext cx="347472" cy="347472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2935224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325880" y="29443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コメントを承認する・返信する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144000" y="29443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山口様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3392424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6F7F8"/>
          </a:solidFill>
          <a:ln/>
        </p:spPr>
      </p:sp>
      <p:sp>
        <p:nvSpPr>
          <p:cNvPr id="21" name="Shape 19"/>
          <p:cNvSpPr/>
          <p:nvPr/>
        </p:nvSpPr>
        <p:spPr>
          <a:xfrm>
            <a:off x="777240" y="3474720"/>
            <a:ext cx="347472" cy="347472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3502152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325880" y="3511296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初回体験の申込を見る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144000" y="351129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山口様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40080" y="3959352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6F7F8"/>
          </a:solidFill>
          <a:ln/>
        </p:spPr>
      </p:sp>
      <p:sp>
        <p:nvSpPr>
          <p:cNvPr id="26" name="Shape 24"/>
          <p:cNvSpPr/>
          <p:nvPr/>
        </p:nvSpPr>
        <p:spPr>
          <a:xfrm>
            <a:off x="777240" y="4041648"/>
            <a:ext cx="347472" cy="347472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27" name="Text 25"/>
          <p:cNvSpPr/>
          <p:nvPr/>
        </p:nvSpPr>
        <p:spPr>
          <a:xfrm>
            <a:off x="777240" y="4069080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325880" y="407822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固定ページの文章・写真を変える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144000" y="407822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開発担当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40080" y="4526280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6F7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77240" y="4608576"/>
            <a:ext cx="347472" cy="347472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32" name="Text 30"/>
          <p:cNvSpPr/>
          <p:nvPr/>
        </p:nvSpPr>
        <p:spPr>
          <a:xfrm>
            <a:off x="777240" y="4636008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325880" y="4645152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テーマ・プラグインの入れ替え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9144000" y="464515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開発担当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40080" y="5093208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6F7F8"/>
          </a:solidFill>
          <a:ln/>
        </p:spPr>
      </p:sp>
      <p:sp>
        <p:nvSpPr>
          <p:cNvPr id="36" name="Shape 34"/>
          <p:cNvSpPr/>
          <p:nvPr/>
        </p:nvSpPr>
        <p:spPr>
          <a:xfrm>
            <a:off x="777240" y="5175504"/>
            <a:ext cx="347472" cy="347472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37" name="Text 35"/>
          <p:cNvSpPr/>
          <p:nvPr/>
        </p:nvSpPr>
        <p:spPr>
          <a:xfrm>
            <a:off x="777240" y="5202936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325880" y="521208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困ったとき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9144000" y="52120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40080" y="5660136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6F7F8"/>
          </a:solidFill>
          <a:ln/>
        </p:spPr>
      </p:sp>
      <p:sp>
        <p:nvSpPr>
          <p:cNvPr id="41" name="Shape 39"/>
          <p:cNvSpPr/>
          <p:nvPr/>
        </p:nvSpPr>
        <p:spPr>
          <a:xfrm>
            <a:off x="777240" y="5742432"/>
            <a:ext cx="347472" cy="347472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42" name="Text 40"/>
          <p:cNvSpPr/>
          <p:nvPr/>
        </p:nvSpPr>
        <p:spPr>
          <a:xfrm>
            <a:off x="777240" y="5769864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1325880" y="577900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用語のかんたん辞書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9144000" y="577900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資料は8冊あります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困ったときに、どれを開けばよいか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572768"/>
            <a:ext cx="11064240" cy="566928"/>
          </a:xfrm>
          <a:prstGeom prst="roundRect">
            <a:avLst>
              <a:gd name="adj" fmla="val 14516"/>
            </a:avLst>
          </a:prstGeom>
          <a:solidFill>
            <a:srgbClr val="F6F7F8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1655064"/>
            <a:ext cx="1463040" cy="402336"/>
          </a:xfrm>
          <a:prstGeom prst="roundRect">
            <a:avLst>
              <a:gd name="adj" fmla="val 50000"/>
            </a:avLst>
          </a:prstGeom>
          <a:solidFill>
            <a:srgbClr val="DD8236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655064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基本編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514600" y="1700784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★ASPATH_サイト運用マニュアル_基本編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315200" y="170992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日々の更新。画面写真つき。まずこれ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194560"/>
            <a:ext cx="11064240" cy="566928"/>
          </a:xfrm>
          <a:prstGeom prst="roundRect">
            <a:avLst>
              <a:gd name="adj" fmla="val 14516"/>
            </a:avLst>
          </a:prstGeom>
          <a:solidFill>
            <a:srgbClr val="F6F7F8"/>
          </a:solidFill>
          <a:ln/>
        </p:spPr>
      </p:sp>
      <p:sp>
        <p:nvSpPr>
          <p:cNvPr id="11" name="Shape 9"/>
          <p:cNvSpPr/>
          <p:nvPr/>
        </p:nvSpPr>
        <p:spPr>
          <a:xfrm>
            <a:off x="868680" y="2276856"/>
            <a:ext cx="1463040" cy="402336"/>
          </a:xfrm>
          <a:prstGeom prst="roundRect">
            <a:avLst>
              <a:gd name="adj" fmla="val 50000"/>
            </a:avLst>
          </a:prstGeom>
          <a:solidFill>
            <a:srgbClr val="C96A1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276856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応用編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514600" y="2322576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★ASPATH_サイト運用マニュアル_応用編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315200" y="233172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壊さない触り方と、検索対策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2816352"/>
            <a:ext cx="11064240" cy="566928"/>
          </a:xfrm>
          <a:prstGeom prst="roundRect">
            <a:avLst>
              <a:gd name="adj" fmla="val 14516"/>
            </a:avLst>
          </a:prstGeom>
          <a:solidFill>
            <a:srgbClr val="F6F7F8"/>
          </a:solidFill>
          <a:ln/>
        </p:spPr>
      </p:sp>
      <p:sp>
        <p:nvSpPr>
          <p:cNvPr id="16" name="Shape 14"/>
          <p:cNvSpPr/>
          <p:nvPr/>
        </p:nvSpPr>
        <p:spPr>
          <a:xfrm>
            <a:off x="868680" y="2898648"/>
            <a:ext cx="1463040" cy="402336"/>
          </a:xfrm>
          <a:prstGeom prst="roundRect">
            <a:avLst>
              <a:gd name="adj" fmla="val 50000"/>
            </a:avLst>
          </a:prstGeom>
          <a:solidFill>
            <a:srgbClr val="B4453C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2898648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最応用編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514600" y="2944368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★ASPATH_サイト運用マニュアル_最応用編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315200" y="2953512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公開後の点検と、直し方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438144"/>
            <a:ext cx="11064240" cy="566928"/>
          </a:xfrm>
          <a:prstGeom prst="roundRect">
            <a:avLst>
              <a:gd name="adj" fmla="val 14516"/>
            </a:avLst>
          </a:prstGeom>
          <a:solidFill>
            <a:srgbClr val="F6F7F8"/>
          </a:solidFill>
          <a:ln/>
        </p:spPr>
      </p:sp>
      <p:sp>
        <p:nvSpPr>
          <p:cNvPr id="21" name="Shape 19"/>
          <p:cNvSpPr/>
          <p:nvPr/>
        </p:nvSpPr>
        <p:spPr>
          <a:xfrm>
            <a:off x="868680" y="3520440"/>
            <a:ext cx="1463040" cy="402336"/>
          </a:xfrm>
          <a:prstGeom prst="roundRect">
            <a:avLst>
              <a:gd name="adj" fmla="val 50000"/>
            </a:avLst>
          </a:prstGeom>
          <a:solidFill>
            <a:srgbClr val="5B5391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3520440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AI活用編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2514600" y="356616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★ASPATH_サイト運用マニュアル_AI活用編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7315200" y="357530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そのまま使えるプロンプト8種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" y="4059936"/>
            <a:ext cx="11064240" cy="566928"/>
          </a:xfrm>
          <a:prstGeom prst="roundRect">
            <a:avLst>
              <a:gd name="adj" fmla="val 14516"/>
            </a:avLst>
          </a:prstGeom>
          <a:solidFill>
            <a:srgbClr val="F6F7F8"/>
          </a:solidFill>
          <a:ln/>
        </p:spPr>
      </p:sp>
      <p:sp>
        <p:nvSpPr>
          <p:cNvPr id="26" name="Shape 24"/>
          <p:cNvSpPr/>
          <p:nvPr/>
        </p:nvSpPr>
        <p:spPr>
          <a:xfrm>
            <a:off x="868680" y="4142232"/>
            <a:ext cx="1463040" cy="402336"/>
          </a:xfrm>
          <a:prstGeom prst="roundRect">
            <a:avLst>
              <a:gd name="adj" fmla="val 50000"/>
            </a:avLst>
          </a:prstGeom>
          <a:solidFill>
            <a:srgbClr val="264653"/>
          </a:solidFill>
          <a:ln/>
        </p:spPr>
      </p:sp>
      <p:sp>
        <p:nvSpPr>
          <p:cNvPr id="27" name="Text 25"/>
          <p:cNvSpPr/>
          <p:nvPr/>
        </p:nvSpPr>
        <p:spPr>
          <a:xfrm>
            <a:off x="868680" y="4142232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この資料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2514600" y="4187952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ASPATH_サイト更新マニュアル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7315200" y="4197096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全体像と、PC作業の手順。開発担当も見る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4681728"/>
            <a:ext cx="11064240" cy="566928"/>
          </a:xfrm>
          <a:prstGeom prst="roundRect">
            <a:avLst>
              <a:gd name="adj" fmla="val 14516"/>
            </a:avLst>
          </a:prstGeom>
          <a:solidFill>
            <a:srgbClr val="F6F7F8"/>
          </a:solidFill>
          <a:ln/>
        </p:spPr>
      </p:sp>
      <p:sp>
        <p:nvSpPr>
          <p:cNvPr id="31" name="Shape 29"/>
          <p:cNvSpPr/>
          <p:nvPr/>
        </p:nvSpPr>
        <p:spPr>
          <a:xfrm>
            <a:off x="868680" y="4764024"/>
            <a:ext cx="1463040" cy="402336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32" name="Text 30"/>
          <p:cNvSpPr/>
          <p:nvPr/>
        </p:nvSpPr>
        <p:spPr>
          <a:xfrm>
            <a:off x="868680" y="4764024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やさしい版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2514600" y="4809744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山口様向け_ページの直し方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7315200" y="481888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記事の書き方を、やさしく。連絡の文例つき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5303520"/>
            <a:ext cx="11064240" cy="566928"/>
          </a:xfrm>
          <a:prstGeom prst="roundRect">
            <a:avLst>
              <a:gd name="adj" fmla="val 14516"/>
            </a:avLst>
          </a:prstGeom>
          <a:solidFill>
            <a:srgbClr val="F6F7F8"/>
          </a:solidFill>
          <a:ln/>
        </p:spPr>
      </p:sp>
      <p:sp>
        <p:nvSpPr>
          <p:cNvPr id="36" name="Shape 34"/>
          <p:cNvSpPr/>
          <p:nvPr/>
        </p:nvSpPr>
        <p:spPr>
          <a:xfrm>
            <a:off x="868680" y="5385816"/>
            <a:ext cx="1463040" cy="402336"/>
          </a:xfrm>
          <a:prstGeom prst="roundRect">
            <a:avLst>
              <a:gd name="adj" fmla="val 50000"/>
            </a:avLst>
          </a:prstGeom>
          <a:solidFill>
            <a:srgbClr val="5E7681"/>
          </a:solidFill>
          <a:ln/>
        </p:spPr>
      </p:sp>
      <p:sp>
        <p:nvSpPr>
          <p:cNvPr id="37" name="Text 35"/>
          <p:cNvSpPr/>
          <p:nvPr/>
        </p:nvSpPr>
        <p:spPr>
          <a:xfrm>
            <a:off x="868680" y="5385816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固定ページ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2514600" y="5431536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山口様向け_ASPATHについて_文章の直し方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7315200" y="544068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「ASPATHについて」だけの専用手順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0080" y="5925312"/>
            <a:ext cx="11064240" cy="566928"/>
          </a:xfrm>
          <a:prstGeom prst="roundRect">
            <a:avLst>
              <a:gd name="adj" fmla="val 14516"/>
            </a:avLst>
          </a:prstGeom>
          <a:solidFill>
            <a:srgbClr val="F6F7F8"/>
          </a:solidFill>
          <a:ln/>
        </p:spPr>
      </p:sp>
      <p:sp>
        <p:nvSpPr>
          <p:cNvPr id="41" name="Shape 39"/>
          <p:cNvSpPr/>
          <p:nvPr/>
        </p:nvSpPr>
        <p:spPr>
          <a:xfrm>
            <a:off x="868680" y="6007608"/>
            <a:ext cx="1463040" cy="402336"/>
          </a:xfrm>
          <a:prstGeom prst="roundRect">
            <a:avLst>
              <a:gd name="adj" fmla="val 50000"/>
            </a:avLst>
          </a:prstGeom>
          <a:solidFill>
            <a:srgbClr val="5E7681"/>
          </a:solidFill>
          <a:ln/>
        </p:spPr>
      </p:sp>
      <p:sp>
        <p:nvSpPr>
          <p:cNvPr id="42" name="Text 40"/>
          <p:cNvSpPr/>
          <p:nvPr/>
        </p:nvSpPr>
        <p:spPr>
          <a:xfrm>
            <a:off x="868680" y="6007608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検索対策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2514600" y="6053328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山口様向け_検索で見つけてもらう記事の書き方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7315200" y="6062472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記事の題名の付け方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4008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★の4冊が本編です。まず「基本編」。困ったときに応用編、月1回の点検に最応用編、記事づくりにAI活用編。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更新には「2つの道」があります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どちらの道かを最初に見分けることが、いちばん大事です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100" dirty="0"/>
          </a:p>
        </p:txBody>
      </p:sp>
      <p:pic>
        <p:nvPicPr>
          <p:cNvPr id="5" name="Image 0" descr="/sessions/compassionate-sweet-heisenberg/mnt/dev-aspath-life-main/_wp移行素材/★引継ぎ資料/画像/00_ふたつの道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600200"/>
            <a:ext cx="10607040" cy="606116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なぜ2つに分かれるのか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固定ページの文章は「テーマ」の中にあります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F6F7F8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9202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一般的なWordPressサイト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242316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文章は WordPress の中に保存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誰でも管理画面から直せる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そのかわりデザインが崩れやすい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7920" y="173736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FFF4EA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0" y="19202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このサイト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92240" y="242316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文章は テーマのファイル の中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直すにはパソコン作業が必要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そのかわりデザインが崩れない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4343400"/>
            <a:ext cx="10881360" cy="1371600"/>
          </a:xfrm>
          <a:prstGeom prst="roundRect">
            <a:avLst>
              <a:gd name="adj" fmla="val 8000"/>
            </a:avLst>
          </a:prstGeom>
          <a:solidFill>
            <a:srgbClr val="264653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" y="4526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見分け方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60120" y="495604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WordPressの編集画面を開いて、その文章が出てくれば 道A。出てこなければ 道B です。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【道A】記事を書く（コラム・お知らせ）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投稿 → 投稿を追加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100" dirty="0"/>
          </a:p>
        </p:txBody>
      </p:sp>
      <p:pic>
        <p:nvPicPr>
          <p:cNvPr id="5" name="Image 0" descr="/sessions/compassionate-sweet-heisenberg/mnt/dev-aspath-life-main/_wp移行素材/★引継ぎ資料/画像/02_投稿を追加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91640"/>
            <a:ext cx="6766560" cy="329697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72400" y="1783080"/>
            <a:ext cx="384048" cy="384048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0" y="1819656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321040" y="18288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タイトルを入れる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772400" y="2350008"/>
            <a:ext cx="384048" cy="384048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0" y="2386584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321040" y="23957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本文を書く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7772400" y="2916936"/>
            <a:ext cx="384048" cy="384048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0" y="2953512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321040" y="296265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カテゴリーを選ぶ（必須）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7772400" y="3483864"/>
            <a:ext cx="384048" cy="384048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6" name="Text 13"/>
          <p:cNvSpPr/>
          <p:nvPr/>
        </p:nvSpPr>
        <p:spPr>
          <a:xfrm>
            <a:off x="7772400" y="3520440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321040" y="352958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アイキャッチ画像を設定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7772400" y="4050792"/>
            <a:ext cx="384048" cy="384048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0" y="4087368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321040" y="409651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右上の【公開】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726680" y="4754880"/>
            <a:ext cx="3840480" cy="1417320"/>
          </a:xfrm>
          <a:prstGeom prst="roundRect">
            <a:avLst>
              <a:gd name="adj" fmla="val 6452"/>
            </a:avLst>
          </a:prstGeom>
          <a:solidFill>
            <a:srgbClr val="FFF4EA"/>
          </a:solidFill>
          <a:ln/>
        </p:spPr>
      </p:sp>
      <p:sp>
        <p:nvSpPr>
          <p:cNvPr id="22" name="Text 19"/>
          <p:cNvSpPr/>
          <p:nvPr/>
        </p:nvSpPr>
        <p:spPr>
          <a:xfrm>
            <a:off x="7955280" y="493776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カテゴリーのチェックを忘れると、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一覧のどこにも出てきません。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【道A】記事を書くときの注意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つまずきやすい3点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881360" cy="1371600"/>
          </a:xfrm>
          <a:prstGeom prst="roundRect">
            <a:avLst>
              <a:gd name="adj" fmla="val 8000"/>
            </a:avLst>
          </a:prstGeom>
          <a:solidFill>
            <a:srgbClr val="F6F7F8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194560"/>
            <a:ext cx="502920" cy="50292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26771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645920" y="196596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カテゴリーは必ず選ぶ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645920" y="2404872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「コラム」＝読みもの／「お知らせ」＝告知。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未選択だと一覧に出ません。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3337560"/>
            <a:ext cx="10881360" cy="1371600"/>
          </a:xfrm>
          <a:prstGeom prst="roundRect">
            <a:avLst>
              <a:gd name="adj" fmla="val 8000"/>
            </a:avLst>
          </a:prstGeom>
          <a:solidFill>
            <a:srgbClr val="F6F7F8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3749040"/>
            <a:ext cx="502920" cy="50292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382219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645920" y="352044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「コードを編集」と出ていたら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645920" y="3959352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右上の「コードエディターを終了」を押してから書く。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そのまま書くと表示が崩れます。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4892040"/>
            <a:ext cx="10881360" cy="1371600"/>
          </a:xfrm>
          <a:prstGeom prst="roundRect">
            <a:avLst>
              <a:gd name="adj" fmla="val 8000"/>
            </a:avLst>
          </a:prstGeom>
          <a:solidFill>
            <a:srgbClr val="F6F7F8"/>
          </a:solidFill>
          <a:ln/>
        </p:spPr>
      </p:sp>
      <p:sp>
        <p:nvSpPr>
          <p:cNvPr id="16" name="Shape 14"/>
          <p:cNvSpPr/>
          <p:nvPr/>
        </p:nvSpPr>
        <p:spPr>
          <a:xfrm>
            <a:off x="914400" y="5303520"/>
            <a:ext cx="502920" cy="50292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537667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645920" y="507492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大事なお知らせを一番上に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645920" y="5513832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右側「ステータスと公開状態」→「先頭に固定表示」に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チェック。TOPと一覧の先頭に出て「重要」が付きます。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【道A】コメントを承認する・返信する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コメント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</a:t>
            </a:r>
            <a:endParaRPr lang="en-US" sz="1100" dirty="0"/>
          </a:p>
        </p:txBody>
      </p:sp>
      <p:pic>
        <p:nvPicPr>
          <p:cNvPr id="5" name="Image 0" descr="/sessions/compassionate-sweet-heisenberg/mnt/dev-aspath-life-main/_wp移行素材/★引継ぎ資料/画像/03_コメント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91640"/>
            <a:ext cx="6766560" cy="32969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72400" y="1783080"/>
            <a:ext cx="3749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「承認待ち」の数字をクリック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内容を読む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問題なければ【承認】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宣伝目的なら【スパム】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返信は【返信】から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726680" y="3931920"/>
            <a:ext cx="3840480" cy="1234440"/>
          </a:xfrm>
          <a:prstGeom prst="roundRect">
            <a:avLst>
              <a:gd name="adj" fmla="val 7407"/>
            </a:avLst>
          </a:prstGeom>
          <a:solidFill>
            <a:srgbClr val="EDF6EE"/>
          </a:solidFill>
          <a:ln/>
        </p:spPr>
      </p:sp>
      <p:sp>
        <p:nvSpPr>
          <p:cNvPr id="8" name="Text 5"/>
          <p:cNvSpPr/>
          <p:nvPr/>
        </p:nvSpPr>
        <p:spPr>
          <a:xfrm>
            <a:off x="7955280" y="411480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山口様の返信は承認なしで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すぐ公開されます。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726680" y="5257800"/>
            <a:ext cx="3840480" cy="914400"/>
          </a:xfrm>
          <a:prstGeom prst="roundRect">
            <a:avLst>
              <a:gd name="adj" fmla="val 10000"/>
            </a:avLst>
          </a:prstGeom>
          <a:solidFill>
            <a:srgbClr val="FFF4EA"/>
          </a:solidFill>
          <a:ln/>
        </p:spPr>
      </p:sp>
      <p:sp>
        <p:nvSpPr>
          <p:cNvPr id="10" name="Text 7"/>
          <p:cNvSpPr/>
          <p:nvPr/>
        </p:nvSpPr>
        <p:spPr>
          <a:xfrm>
            <a:off x="7955280" y="539496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いただいた質問は、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次の記事のネタになります。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【道A】初回体験の申込を見る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初回体験の申込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</a:t>
            </a:r>
            <a:endParaRPr lang="en-US" sz="1100" dirty="0"/>
          </a:p>
        </p:txBody>
      </p:sp>
      <p:pic>
        <p:nvPicPr>
          <p:cNvPr id="5" name="Image 0" descr="/sessions/compassionate-sweet-heisenberg/mnt/dev-aspath-life-main/_wp移行素材/★引継ぎ資料/画像/04_初回体験の申込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91640"/>
            <a:ext cx="6766560" cy="32969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72400" y="17373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申込があると同時に2つ起こります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26680" y="2240280"/>
            <a:ext cx="3840480" cy="868680"/>
          </a:xfrm>
          <a:prstGeom prst="roundRect">
            <a:avLst>
              <a:gd name="adj" fmla="val 10526"/>
            </a:avLst>
          </a:prstGeom>
          <a:solidFill>
            <a:srgbClr val="F6F7F8"/>
          </a:solidFill>
          <a:ln/>
        </p:spPr>
      </p:sp>
      <p:sp>
        <p:nvSpPr>
          <p:cNvPr id="8" name="Text 5"/>
          <p:cNvSpPr/>
          <p:nvPr/>
        </p:nvSpPr>
        <p:spPr>
          <a:xfrm>
            <a:off x="7955280" y="237744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aspathlife@gmail.com に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 通知メールが届く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726680" y="3200400"/>
            <a:ext cx="3840480" cy="868680"/>
          </a:xfrm>
          <a:prstGeom prst="roundRect">
            <a:avLst>
              <a:gd name="adj" fmla="val 10526"/>
            </a:avLst>
          </a:prstGeom>
          <a:solidFill>
            <a:srgbClr val="F6F7F8"/>
          </a:solidFill>
          <a:ln/>
        </p:spPr>
      </p:sp>
      <p:sp>
        <p:nvSpPr>
          <p:cNvPr id="10" name="Text 7"/>
          <p:cNvSpPr/>
          <p:nvPr/>
        </p:nvSpPr>
        <p:spPr>
          <a:xfrm>
            <a:off x="7955280" y="34747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この画面に記録が残る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7726680" y="4206240"/>
            <a:ext cx="3840480" cy="1188720"/>
          </a:xfrm>
          <a:prstGeom prst="roundRect">
            <a:avLst>
              <a:gd name="adj" fmla="val 7692"/>
            </a:avLst>
          </a:prstGeom>
          <a:solidFill>
            <a:srgbClr val="EDF6EE"/>
          </a:solidFill>
          <a:ln/>
        </p:spPr>
      </p:sp>
      <p:sp>
        <p:nvSpPr>
          <p:cNvPr id="12" name="Text 9"/>
          <p:cNvSpPr/>
          <p:nvPr/>
        </p:nvSpPr>
        <p:spPr>
          <a:xfrm>
            <a:off x="7955280" y="434340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メールが届かなくても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記録は残ります。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見落としても大丈夫です。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772400" y="55321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返信は通知メールにそのまま返信すれば届きます。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【道B】固定ページを直すときの流れ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「ASPATHについて」を例に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</a:t>
            </a:r>
            <a:endParaRPr lang="en-US" sz="1100" dirty="0"/>
          </a:p>
        </p:txBody>
      </p:sp>
      <p:pic>
        <p:nvPicPr>
          <p:cNvPr id="5" name="Image 0" descr="/sessions/compassionate-sweet-heisenberg/mnt/dev-aspath-life-main/_wp移行素材/★引継ぎ資料/画像/07_固定ページの流れ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645920"/>
            <a:ext cx="1060704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【道B】どのファイルを直すか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この表がいちばん大事です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88136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3291840"/>
                <a:gridCol w="36576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サイトのページ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URL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開くファイル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TOP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index.html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ASPATHについて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/about/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about.html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プランと料金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/services/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price.html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対面トレーニング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/taimentraining/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taimentraining.html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オンライン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/onlineaspath/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onlineaspath.html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よくある質問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/faq/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faq.html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アクセス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/access/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access.html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お問い合わせ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/contact/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contact.html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プライバシーポリシー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/privacy/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privacy.html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特定商取引法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/tokushoho/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tokushoho.html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サイトマップ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/sitemap/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sitemap.html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初回体験フォーム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/taiken-2026as9y/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trial-entry.html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【道B】例：「ASPATHについて」を直す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文章の探し方まで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85800" y="17373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234440" y="1755648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Desktop で Pull origin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21031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先に他の人の変更を取り込む。飛ばすと衝突します。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" y="248716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34440" y="250545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about.html を開く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34440" y="285292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メモ帳でも可。VS Code が扱いやすいです。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323697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234440" y="3255264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Ctrl+F で文章の一部を検索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34440" y="3602736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例：「一番初めに動かしにくさ」（10〜15文字で探す）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85800" y="398678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234440" y="400507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タグの間の文字だけ書き換える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34440" y="435254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&lt; と &gt; の記号は消さない。心配ならコピーを残す。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85800" y="473659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⑤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234440" y="475488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保存 →「テーマを作る.ps1」を実行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34440" y="5102352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右クリック →「PowerShell で実行」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85800" y="54864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⑥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234440" y="5504688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WordPressにアップロード → Push origin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234440" y="585216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次のページへ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6263640"/>
            <a:ext cx="0" cy="0"/>
          </a:xfrm>
          <a:prstGeom prst="round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【道B】文章が見つからないとき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丸ごとコピーして検索しても出てこないことがあります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10881360" cy="1737360"/>
          </a:xfrm>
          <a:prstGeom prst="roundRect">
            <a:avLst>
              <a:gd name="adj" fmla="val 6316"/>
            </a:avLst>
          </a:prstGeom>
          <a:solidFill>
            <a:srgbClr val="F6F7F8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92024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ファイルの中では、こう書かれています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233172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&lt;p class="tr-p"&gt;&lt;span class="nw"&gt;パーキンソン病&lt;/span&gt;において、多くの方が一番初めに動かしにくさを感じるのが……&lt;/p&gt;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657600"/>
            <a:ext cx="5303520" cy="2194560"/>
          </a:xfrm>
          <a:prstGeom prst="roundRect">
            <a:avLst>
              <a:gd name="adj" fmla="val 5000"/>
            </a:avLst>
          </a:prstGeom>
          <a:solidFill>
            <a:srgbClr val="FFF4EA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38404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なぜ見つからないのか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14400" y="425196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途中に &lt;span class="nw"&gt;…&lt;/span&gt; が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挟まっているためです。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「パーキンソン病」のような語が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変な位置で改行されないための印。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消してはいけません。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17920" y="3657600"/>
            <a:ext cx="5303520" cy="2194560"/>
          </a:xfrm>
          <a:prstGeom prst="roundRect">
            <a:avLst>
              <a:gd name="adj" fmla="val 5000"/>
            </a:avLst>
          </a:prstGeom>
          <a:solidFill>
            <a:srgbClr val="EDF6EE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38404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探すコツ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92240" y="425196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10〜15文字くらいの、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記号を含まない部分で検索する。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○ 一番初めに動かしにくさ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 パーキンソン病において、多くの方が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【道B】テーマをアップロードする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 → テーマ → 新規追加 → テーマのアップロード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</a:t>
            </a:r>
            <a:endParaRPr lang="en-US" sz="1100" dirty="0"/>
          </a:p>
        </p:txBody>
      </p:sp>
      <p:pic>
        <p:nvPicPr>
          <p:cNvPr id="5" name="Image 0" descr="/sessions/compassionate-sweet-heisenberg/mnt/dev-aspath-life-main/_wp移行素材/★引継ぎ資料/画像/05_テーマのアップロード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91640"/>
            <a:ext cx="6766560" cy="32969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72400" y="178308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aspath-theme.zip を選び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「既存のものを置き換える」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26680" y="2697480"/>
            <a:ext cx="3840480" cy="1188720"/>
          </a:xfrm>
          <a:prstGeom prst="roundRect">
            <a:avLst>
              <a:gd name="adj" fmla="val 7692"/>
            </a:avLst>
          </a:prstGeom>
          <a:solidFill>
            <a:srgbClr val="FFF4EA"/>
          </a:solidFill>
          <a:ln/>
        </p:spPr>
      </p:sp>
      <p:sp>
        <p:nvSpPr>
          <p:cNvPr id="8" name="Text 5"/>
          <p:cNvSpPr/>
          <p:nvPr/>
        </p:nvSpPr>
        <p:spPr>
          <a:xfrm>
            <a:off x="7955280" y="297180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「テーマを有効化」は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最初の1回だけです。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726680" y="4023360"/>
            <a:ext cx="3840480" cy="1463040"/>
          </a:xfrm>
          <a:prstGeom prst="roundRect">
            <a:avLst>
              <a:gd name="adj" fmla="val 6250"/>
            </a:avLst>
          </a:prstGeom>
          <a:solidFill>
            <a:srgbClr val="FFF4EA"/>
          </a:solidFill>
          <a:ln/>
        </p:spPr>
      </p:sp>
      <p:sp>
        <p:nvSpPr>
          <p:cNvPr id="10" name="Text 7"/>
          <p:cNvSpPr/>
          <p:nvPr/>
        </p:nvSpPr>
        <p:spPr>
          <a:xfrm>
            <a:off x="7955280" y="420624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aspath-trial-form.zip を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ここに入れないでください。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「style.css がありません」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と出ます。あれはプラグイン。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772400" y="562356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フォームを直したときは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プラグインも入れ替えます。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【道B】最後に必ずキャッシュを消す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これを忘れると「直したのに変わらない」になります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</a:t>
            </a:r>
            <a:endParaRPr lang="en-US" sz="1100" dirty="0"/>
          </a:p>
        </p:txBody>
      </p:sp>
      <p:pic>
        <p:nvPicPr>
          <p:cNvPr id="5" name="Image 0" descr="/sessions/compassionate-sweet-heisenberg/mnt/dev-aspath-life-main/_wp移行素材/★引継ぎ資料/画像/06_キャッシュ削除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91640"/>
            <a:ext cx="6766560" cy="32969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72400" y="178308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Super Page Cache を開く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【Purge Cache】を押す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ブラウザで Ctrl + F5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26680" y="3291840"/>
            <a:ext cx="3840480" cy="1828800"/>
          </a:xfrm>
          <a:prstGeom prst="roundRect">
            <a:avLst>
              <a:gd name="adj" fmla="val 5000"/>
            </a:avLst>
          </a:prstGeom>
          <a:solidFill>
            <a:srgbClr val="264653"/>
          </a:solidFill>
          <a:ln/>
        </p:spPr>
      </p:sp>
      <p:sp>
        <p:nvSpPr>
          <p:cNvPr id="8" name="Text 5"/>
          <p:cNvSpPr/>
          <p:nvPr/>
        </p:nvSpPr>
        <p:spPr>
          <a:xfrm>
            <a:off x="7955280" y="34747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それでも変わらないとき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955280" y="388620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URLの末尾に ?v=2 を付けて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開いてください。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キャッシュを確実に飛ばせます。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困ったとき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症状から原因を引けます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</a:t>
            </a:r>
            <a:endParaRPr lang="en-US" sz="11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881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108960"/>
                <a:gridCol w="45720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症状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原因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対処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直したのに変わらない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キャッシュ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Purge Cache ＋ Ctrl+F5。URLに ?v=2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記事が一覧に出ない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カテゴリー未選択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投稿を編集してチェックを入れる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サイトが真っ白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テーマとプラグインの不整合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外観 → テーマ → 旧テーマに戻す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style.css がありません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プラグインZIPをテーマに入れた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ファイルを確認して入れ直す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管理画面が開けない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プラグインの不具合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FTPでプラグインのフォルダ名を変える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PowerShellが動かない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実行ポリシー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-ExecutionPolicy Bypass を付ける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変更が競合しています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Pull を忘れた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Pull origin してやり直す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074920"/>
            <a:ext cx="10881360" cy="1005840"/>
          </a:xfrm>
          <a:prstGeom prst="roundRect">
            <a:avLst>
              <a:gd name="adj" fmla="val 9091"/>
            </a:avLst>
          </a:prstGeom>
          <a:solidFill>
            <a:srgbClr val="EDF6EE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534924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テーマを戻せば見た目は即座に復帰します。大きな変更の前に All-in-One WP Migration でバックアップを。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この資料の育て方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6D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新しい作業を覚えたら、その日のうちに書き足す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E969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5303520" cy="2103120"/>
          </a:xfrm>
          <a:prstGeom prst="roundRect">
            <a:avLst>
              <a:gd name="adj" fmla="val 5217"/>
            </a:avLst>
          </a:prstGeom>
          <a:solidFill>
            <a:srgbClr val="32596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9202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書くときのコツ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242316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DCE7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どの画面かをURLで書く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DCE7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画面写真を1枚入れる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DCE7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つまずいた点を残す ← 最重要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17920" y="1737360"/>
            <a:ext cx="5303520" cy="2103120"/>
          </a:xfrm>
          <a:prstGeom prst="roundRect">
            <a:avLst>
              <a:gd name="adj" fmla="val 5217"/>
            </a:avLst>
          </a:prstGeom>
          <a:solidFill>
            <a:srgbClr val="32596B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0" y="19202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置き場所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92240" y="242316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DCE7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_wp移行素材／★引継ぎ資料／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DCE7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★サイト更新マニュアル.md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DCE7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画像／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41148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まだ書けていないこと（今後の追記予定）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85800" y="4572000"/>
            <a:ext cx="10789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メニュー項目の増やし方・並べ替え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新しい固定ページを1枚まるごと足す手順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LINE連携まわりの設定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Search Console・Googleビジネスプロフィールの運用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年に一度のこと（ドメイン更新・サーバー更新）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2026-09-03T16:50:26Z</dcterms:created>
  <dcterms:modified xsi:type="dcterms:W3CDTF">2026-09-03T16:50:26Z</dcterms:modified>
</cp:coreProperties>
</file>