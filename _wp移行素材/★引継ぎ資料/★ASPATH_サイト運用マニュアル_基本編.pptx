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レクチャー冒頭。所要60分の想定。コラムの書き方は既に操作いただいているため、本資料では扱いません。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4つの単元を最初に示す。所要は各10〜15分。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ログインは実際にやっていただく。ブックマーク登録までその場で。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5ステップを頭に入れてもらってから、実画面へ。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実際に題名だけ入れてもらう。公開はまだ押さない。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カテゴリーの付け替えは後からでもできる、と補足する。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固定は終わったら外す運用を勧める。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画面の氏名・連絡先はダミーに差し替えて撮影している旨を伝える。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診断名が入るため、画面を人に見せない・印刷を放置しないことを強調。この画面の氏名・連絡先は資料用のダミー。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実際に1枚差し替えてもらい、更新まで通す。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この画面の2件は実際に届いたスパム。次のスライドで詳しく。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実物2件を一緒に見ながら、その場でスパム処理していただく。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キャッシュは一番よくある相談。ここだけは覚えていただく。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最後にこの3つだけ確認して終了。応用編の存在を案内する。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E9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8096" cy="146304"/>
          </a:xfrm>
          <a:prstGeom prst="rect">
            <a:avLst/>
          </a:prstGeom>
          <a:solidFill>
            <a:srgbClr val="26465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11696"/>
            <a:ext cx="12198096" cy="146304"/>
          </a:xfrm>
          <a:prstGeom prst="rect">
            <a:avLst/>
          </a:prstGeom>
          <a:solidFill>
            <a:srgbClr val="F4A261"/>
          </a:solidFill>
          <a:ln/>
        </p:spPr>
      </p:sp>
      <p:pic>
        <p:nvPicPr>
          <p:cNvPr id="4" name="Image 0" descr="/sessions/compassionate-sweet-heisenberg/mnt/dev-aspath-life-main/tools/assets/logo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874520"/>
            <a:ext cx="2320246" cy="2834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892040" y="1572768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500" b="1" spc="600" kern="0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</a:t>
            </a:r>
            <a:endParaRPr lang="ja-JP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892040" y="1993392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3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サイト運用マニュアル</a:t>
            </a:r>
            <a:endParaRPr lang="ja-JP" sz="3600" dirty="0"/>
          </a:p>
        </p:txBody>
      </p:sp>
      <p:sp>
        <p:nvSpPr>
          <p:cNvPr id="7" name="Shape 4"/>
          <p:cNvSpPr/>
          <p:nvPr/>
        </p:nvSpPr>
        <p:spPr>
          <a:xfrm>
            <a:off x="4892040" y="2962656"/>
            <a:ext cx="1920240" cy="548640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92040" y="2962656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 本 編</a:t>
            </a:r>
            <a:endParaRPr lang="ja-JP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4892040" y="374904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5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この1冊で、日々の更新はひととおりできるようになります。</a:t>
            </a:r>
            <a:endParaRPr lang="ja-JP" sz="1500" dirty="0"/>
          </a:p>
        </p:txBody>
      </p:sp>
      <p:sp>
        <p:nvSpPr>
          <p:cNvPr id="10" name="Shape 7"/>
          <p:cNvSpPr/>
          <p:nvPr/>
        </p:nvSpPr>
        <p:spPr>
          <a:xfrm>
            <a:off x="4892040" y="4736592"/>
            <a:ext cx="1828800" cy="18288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92040" y="4864608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2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鹿児島のパーキンソン病専門トレーニングスタジオ</a:t>
            </a:r>
            <a:endParaRPr lang="ja-JP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4892040" y="5193792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1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動くことを楽しむ。明日につながる。</a:t>
            </a:r>
            <a:endParaRPr lang="ja-JP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4892040" y="5596128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050" dirty="0">
                <a:solidFill>
                  <a:srgbClr val="8A9CA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aspath-life.com　／　2026年9月　ASPATH 様　ご納品資料</a:t>
            </a:r>
            <a:endParaRPr lang="ja-JP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compassionate-sweet-heisenberg/mnt/dev-aspath-life-main/tools/assets/logo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8173" y="109728"/>
            <a:ext cx="209571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623533" y="128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750" dirty="0">
                <a:solidFill>
                  <a:srgbClr val="97A9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鹿児島のパーキンソン病専門トレーニングスタジオ</a:t>
            </a:r>
            <a:endParaRPr lang="ja-JP" sz="75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47472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この資料で、4つのことができるようになります</a:t>
            </a:r>
            <a:endParaRPr lang="ja-JP" sz="3000" dirty="0"/>
          </a:p>
        </p:txBody>
      </p:sp>
      <p:sp>
        <p:nvSpPr>
          <p:cNvPr id="5" name="Shape 2"/>
          <p:cNvSpPr/>
          <p:nvPr/>
        </p:nvSpPr>
        <p:spPr>
          <a:xfrm>
            <a:off x="566928" y="1554480"/>
            <a:ext cx="2606040" cy="2743200"/>
          </a:xfrm>
          <a:prstGeom prst="roundRect">
            <a:avLst>
              <a:gd name="adj" fmla="val 4912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600200" y="1865376"/>
            <a:ext cx="548640" cy="54864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600200" y="18653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ja-JP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606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7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お知らせを出す</a:t>
            </a:r>
            <a:endParaRPr lang="ja-JP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1089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ja-JP" altLang="en-US" sz="12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休業やキャンペーンを</a:t>
            </a:r>
            <a:endParaRPr lang="ja-JP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ja-JP" altLang="en-US" sz="12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お客様に知らせる</a:t>
            </a:r>
            <a:endParaRPr lang="ja-JP" sz="1250" dirty="0"/>
          </a:p>
        </p:txBody>
      </p:sp>
      <p:sp>
        <p:nvSpPr>
          <p:cNvPr id="10" name="Shape 7"/>
          <p:cNvSpPr/>
          <p:nvPr/>
        </p:nvSpPr>
        <p:spPr>
          <a:xfrm>
            <a:off x="3429000" y="1554480"/>
            <a:ext cx="2606040" cy="2743200"/>
          </a:xfrm>
          <a:prstGeom prst="roundRect">
            <a:avLst>
              <a:gd name="adj" fmla="val 4912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62272" y="1865376"/>
            <a:ext cx="548640" cy="54864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462272" y="18653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ja-JP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3593592" y="2606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7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申込を確認する</a:t>
            </a:r>
            <a:endParaRPr lang="ja-JP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3593592" y="31089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ja-JP" altLang="en-US" sz="12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初回体験のお申し込みを</a:t>
            </a:r>
            <a:endParaRPr lang="ja-JP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ja-JP" altLang="en-US" sz="12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見落とさない</a:t>
            </a:r>
            <a:endParaRPr lang="ja-JP" sz="1250" dirty="0"/>
          </a:p>
        </p:txBody>
      </p:sp>
      <p:sp>
        <p:nvSpPr>
          <p:cNvPr id="15" name="Shape 12"/>
          <p:cNvSpPr/>
          <p:nvPr/>
        </p:nvSpPr>
        <p:spPr>
          <a:xfrm>
            <a:off x="6291072" y="1554480"/>
            <a:ext cx="2606040" cy="2743200"/>
          </a:xfrm>
          <a:prstGeom prst="roundRect">
            <a:avLst>
              <a:gd name="adj" fmla="val 4912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324344" y="1865376"/>
            <a:ext cx="548640" cy="54864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324344" y="18653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ja-JP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6455664" y="2606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7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写真を差し替える</a:t>
            </a:r>
            <a:endParaRPr lang="ja-JP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6455664" y="31089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ja-JP" altLang="en-US" sz="12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記事の画像を</a:t>
            </a:r>
            <a:endParaRPr lang="ja-JP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ja-JP" altLang="en-US" sz="12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新しいものに入れ替える</a:t>
            </a:r>
            <a:endParaRPr lang="ja-JP" sz="1250" dirty="0"/>
          </a:p>
        </p:txBody>
      </p:sp>
      <p:sp>
        <p:nvSpPr>
          <p:cNvPr id="20" name="Shape 17"/>
          <p:cNvSpPr/>
          <p:nvPr/>
        </p:nvSpPr>
        <p:spPr>
          <a:xfrm>
            <a:off x="9153144" y="1554480"/>
            <a:ext cx="2606040" cy="2743200"/>
          </a:xfrm>
          <a:prstGeom prst="roundRect">
            <a:avLst>
              <a:gd name="adj" fmla="val 4912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186416" y="1865376"/>
            <a:ext cx="548640" cy="54864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0186416" y="18653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ja-JP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9317736" y="2606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7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コメントに対応する</a:t>
            </a:r>
            <a:endParaRPr lang="ja-JP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9317736" y="31089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ja-JP" altLang="en-US" sz="12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スパムを見分けて</a:t>
            </a:r>
            <a:endParaRPr lang="ja-JP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ja-JP" altLang="en-US" sz="12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必要なものだけ承認する</a:t>
            </a:r>
            <a:endParaRPr lang="ja-JP" sz="1250" dirty="0"/>
          </a:p>
        </p:txBody>
      </p:sp>
      <p:sp>
        <p:nvSpPr>
          <p:cNvPr id="25" name="Shape 22"/>
          <p:cNvSpPr/>
          <p:nvPr/>
        </p:nvSpPr>
        <p:spPr>
          <a:xfrm>
            <a:off x="566928" y="4617720"/>
            <a:ext cx="11018520" cy="960120"/>
          </a:xfrm>
          <a:prstGeom prst="roundRect">
            <a:avLst>
              <a:gd name="adj" fmla="val 11429"/>
            </a:avLst>
          </a:prstGeom>
          <a:solidFill>
            <a:srgbClr val="F4E9D8"/>
          </a:solidFill>
          <a:ln w="15875">
            <a:solidFill>
              <a:srgbClr val="264653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04672" y="4837176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04672" y="48371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ja-JP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252728" y="4782312"/>
            <a:ext cx="101041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コラムの書き方は、この資料には入れていません</a:t>
            </a:r>
            <a:endParaRPr lang="ja-JP" sz="1500" dirty="0"/>
          </a:p>
          <a:p>
            <a:pPr indent="0" marL="0">
              <a:buNone/>
            </a:pPr>
            <a:r>
              <a:rPr lang="ja-JP" alt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既に山口様にご操作いただいているためです。手順を見返したいときは『山口様向け_ページの直し方.pdf』をご覧ください。</a:t>
            </a:r>
            <a:endParaRPr lang="ja-JP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compassionate-sweet-heisenberg/mnt/dev-aspath-life-main/tools/assets/logo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8173" y="109728"/>
            <a:ext cx="209571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623533" y="128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750" dirty="0">
                <a:solidFill>
                  <a:srgbClr val="97A9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鹿児島のパーキンソン病専門トレーニングスタジオ</a:t>
            </a:r>
            <a:endParaRPr lang="ja-JP" sz="75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47472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はじめに ─ 管理画面の開き方</a:t>
            </a:r>
            <a:endParaRPr lang="ja-JP" sz="3000" dirty="0"/>
          </a:p>
        </p:txBody>
      </p:sp>
      <p:sp>
        <p:nvSpPr>
          <p:cNvPr id="5" name="Shape 2"/>
          <p:cNvSpPr/>
          <p:nvPr/>
        </p:nvSpPr>
        <p:spPr>
          <a:xfrm>
            <a:off x="566928" y="141732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26465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1600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https://aspath-life.com/wp-admin/</a:t>
            </a:r>
            <a:endParaRPr lang="ja-JP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8483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200" dirty="0">
                <a:solidFill>
                  <a:srgbClr val="BBD2D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このURLをお気に入りに入れておくと便利です</a:t>
            </a:r>
            <a:endParaRPr lang="ja-JP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3035808"/>
            <a:ext cx="347472" cy="347472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66928" y="30358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ja-JP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1069848" y="2962656"/>
            <a:ext cx="4709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上のURLを開く</a:t>
            </a:r>
            <a:endParaRPr lang="ja-JP" sz="1500" dirty="0"/>
          </a:p>
          <a:p>
            <a:pPr indent="0" marL="0">
              <a:buNone/>
            </a:pPr>
            <a:r>
              <a:rPr lang="ja-JP" altLang="en-US" sz="13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ブラウザ（Chrome など）のアドレス欄に入力します</a:t>
            </a:r>
            <a:endParaRPr lang="ja-JP" sz="1500" dirty="0"/>
          </a:p>
        </p:txBody>
      </p:sp>
      <p:sp>
        <p:nvSpPr>
          <p:cNvPr id="11" name="Shape 8"/>
          <p:cNvSpPr/>
          <p:nvPr/>
        </p:nvSpPr>
        <p:spPr>
          <a:xfrm>
            <a:off x="566928" y="3749040"/>
            <a:ext cx="347472" cy="347472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66928" y="3749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ja-JP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1069848" y="3675888"/>
            <a:ext cx="4709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ユーザー名とパスワードを入れる</a:t>
            </a:r>
            <a:endParaRPr lang="ja-JP" sz="1500" dirty="0"/>
          </a:p>
          <a:p>
            <a:pPr indent="0" marL="0">
              <a:buNone/>
            </a:pPr>
            <a:r>
              <a:rPr lang="ja-JP" altLang="en-US" sz="13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 のアカウントでログインします</a:t>
            </a:r>
            <a:endParaRPr lang="ja-JP" sz="1500" dirty="0"/>
          </a:p>
        </p:txBody>
      </p:sp>
      <p:sp>
        <p:nvSpPr>
          <p:cNvPr id="14" name="Shape 11"/>
          <p:cNvSpPr/>
          <p:nvPr/>
        </p:nvSpPr>
        <p:spPr>
          <a:xfrm>
            <a:off x="566928" y="4462272"/>
            <a:ext cx="347472" cy="347472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66928" y="44622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ja-JP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069848" y="4389120"/>
            <a:ext cx="4709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左側のメニューから作業を選ぶ</a:t>
            </a:r>
            <a:endParaRPr lang="ja-JP" sz="1500" dirty="0"/>
          </a:p>
          <a:p>
            <a:pPr indent="0" marL="0">
              <a:buNone/>
            </a:pPr>
            <a:r>
              <a:rPr lang="ja-JP" altLang="en-US" sz="13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使うのは「投稿」「初回体験の申込」「コメント」の3つです</a:t>
            </a:r>
            <a:endParaRPr lang="ja-JP" sz="1500" dirty="0"/>
          </a:p>
        </p:txBody>
      </p:sp>
      <p:pic>
        <p:nvPicPr>
          <p:cNvPr id="17" name="Image 1" descr="/sessions/compassionate-sweet-heisenberg/mnt/dev-aspath-life-main/_wp移行素材/★引継ぎ資料/レクチャー素材/00_ダッシュボード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417320"/>
            <a:ext cx="5623560" cy="2898648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5989320" y="1417320"/>
            <a:ext cx="5623560" cy="28986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989320" y="4572000"/>
            <a:ext cx="5623560" cy="1417320"/>
          </a:xfrm>
          <a:prstGeom prst="roundRect">
            <a:avLst>
              <a:gd name="adj" fmla="val 7742"/>
            </a:avLst>
          </a:prstGeom>
          <a:solidFill>
            <a:srgbClr val="F4E9D8"/>
          </a:solidFill>
          <a:ln w="15875">
            <a:solidFill>
              <a:srgbClr val="264653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227064" y="4791456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6227064" y="4791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ja-JP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6675120" y="4736592"/>
            <a:ext cx="470916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画面の上のほうに出るお知らせは、無視してかまいません</a:t>
            </a:r>
            <a:endParaRPr lang="ja-JP" sz="1500" dirty="0"/>
          </a:p>
          <a:p>
            <a:pPr indent="0" marL="0">
              <a:buNone/>
            </a:pPr>
            <a:r>
              <a:rPr lang="ja-JP" alt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プラグインの宣伝です。×で閉じても、また出ることがあります。作業には影響しません。</a:t>
            </a:r>
            <a:endParaRPr lang="ja-JP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9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compassionate-sweet-heisenberg/mnt/dev-aspath-life-main/tools/assets/logo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8173" y="109728"/>
            <a:ext cx="209571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623533" y="128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750" dirty="0">
                <a:solidFill>
                  <a:srgbClr val="97A9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鹿児島のパーキンソン病専門トレーニングスタジオ</a:t>
            </a:r>
            <a:endParaRPr lang="ja-JP" sz="750" dirty="0"/>
          </a:p>
        </p:txBody>
      </p:sp>
      <p:sp>
        <p:nvSpPr>
          <p:cNvPr id="4" name="Shape 1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ja-JP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298448" y="347472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お知らせを出す ─ 全体の流れ</a:t>
            </a:r>
            <a:endParaRPr lang="ja-JP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25880" y="1874520"/>
            <a:ext cx="457200" cy="457200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32588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ja-JP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4231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新規追加</a:t>
            </a:r>
            <a:endParaRPr lang="ja-JP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274320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投稿 → 新規追加</a:t>
            </a:r>
            <a:endParaRPr lang="ja-JP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532888" y="21488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26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ja-JP" sz="2600" dirty="0"/>
          </a:p>
        </p:txBody>
      </p:sp>
      <p:sp>
        <p:nvSpPr>
          <p:cNvPr id="13" name="Shape 10"/>
          <p:cNvSpPr/>
          <p:nvPr/>
        </p:nvSpPr>
        <p:spPr>
          <a:xfrm>
            <a:off x="2852928" y="16916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611880" y="1874520"/>
            <a:ext cx="457200" cy="457200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61188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ja-JP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2944368" y="24231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書く</a:t>
            </a:r>
            <a:endParaRPr lang="ja-JP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944368" y="274320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題名と本文</a:t>
            </a:r>
            <a:endParaRPr lang="ja-JP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818888" y="21488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26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ja-JP" sz="2600" dirty="0"/>
          </a:p>
        </p:txBody>
      </p:sp>
      <p:sp>
        <p:nvSpPr>
          <p:cNvPr id="19" name="Shape 16"/>
          <p:cNvSpPr/>
          <p:nvPr/>
        </p:nvSpPr>
        <p:spPr>
          <a:xfrm>
            <a:off x="5138928" y="16916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897880" y="1874520"/>
            <a:ext cx="457200" cy="457200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89788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ja-JP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5230368" y="24231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分類する</a:t>
            </a:r>
            <a:endParaRPr lang="ja-JP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230368" y="274320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カテゴリー「お知らせ」</a:t>
            </a:r>
            <a:endParaRPr lang="ja-JP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104888" y="21488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26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ja-JP" sz="2600" dirty="0"/>
          </a:p>
        </p:txBody>
      </p:sp>
      <p:sp>
        <p:nvSpPr>
          <p:cNvPr id="25" name="Shape 22"/>
          <p:cNvSpPr/>
          <p:nvPr/>
        </p:nvSpPr>
        <p:spPr>
          <a:xfrm>
            <a:off x="7424928" y="16916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183880" y="1874520"/>
            <a:ext cx="457200" cy="457200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18388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ja-JP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7516368" y="24231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必要なら固定</a:t>
            </a:r>
            <a:endParaRPr lang="ja-JP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516368" y="274320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先頭固定表示</a:t>
            </a:r>
            <a:endParaRPr lang="ja-JP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390888" y="21488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26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ja-JP" sz="2600" dirty="0"/>
          </a:p>
        </p:txBody>
      </p:sp>
      <p:sp>
        <p:nvSpPr>
          <p:cNvPr id="31" name="Shape 28"/>
          <p:cNvSpPr/>
          <p:nvPr/>
        </p:nvSpPr>
        <p:spPr>
          <a:xfrm>
            <a:off x="9710928" y="16916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469880" y="1874520"/>
            <a:ext cx="457200" cy="457200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046988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ja-JP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9802368" y="24231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</a:t>
            </a:r>
            <a:endParaRPr lang="ja-JP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9802368" y="274320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公開ボタン</a:t>
            </a:r>
            <a:endParaRPr lang="ja-JP" sz="1100" dirty="0"/>
          </a:p>
        </p:txBody>
      </p:sp>
      <p:sp>
        <p:nvSpPr>
          <p:cNvPr id="36" name="Shape 33"/>
          <p:cNvSpPr/>
          <p:nvPr/>
        </p:nvSpPr>
        <p:spPr>
          <a:xfrm>
            <a:off x="566928" y="3657600"/>
            <a:ext cx="11018520" cy="1051560"/>
          </a:xfrm>
          <a:prstGeom prst="roundRect">
            <a:avLst>
              <a:gd name="adj" fmla="val 10435"/>
            </a:avLst>
          </a:prstGeom>
          <a:solidFill>
            <a:srgbClr val="F4E9D8"/>
          </a:solidFill>
          <a:ln w="15875">
            <a:solidFill>
              <a:srgbClr val="264653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04672" y="3877056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04672" y="3877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ja-JP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1252728" y="3822192"/>
            <a:ext cx="10104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「お知らせ」と「コラム」の違い</a:t>
            </a:r>
            <a:endParaRPr lang="ja-JP" sz="1500" dirty="0"/>
          </a:p>
          <a:p>
            <a:pPr indent="0" marL="0">
              <a:buNone/>
            </a:pPr>
            <a:r>
              <a:rPr lang="ja-JP" alt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お知らせ＝休業・キャンペーンなどの連絡事項。コラム＝パーキンソン病に関する読みもの。分ける場所は同じ「カテゴリー」欄です。</a:t>
            </a:r>
            <a:endParaRPr lang="ja-JP" sz="1500" dirty="0"/>
          </a:p>
        </p:txBody>
      </p:sp>
      <p:sp>
        <p:nvSpPr>
          <p:cNvPr id="40" name="Shape 37"/>
          <p:cNvSpPr/>
          <p:nvPr/>
        </p:nvSpPr>
        <p:spPr>
          <a:xfrm>
            <a:off x="566928" y="4892040"/>
            <a:ext cx="11018520" cy="1051560"/>
          </a:xfrm>
          <a:prstGeom prst="roundRect">
            <a:avLst>
              <a:gd name="adj" fmla="val 10435"/>
            </a:avLst>
          </a:prstGeom>
          <a:solidFill>
            <a:srgbClr val="FDF0E6"/>
          </a:solidFill>
          <a:ln w="15875">
            <a:solidFill>
              <a:srgbClr val="F4A261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04672" y="5111496"/>
            <a:ext cx="310896" cy="310896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804672" y="5111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ja-JP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1252728" y="5056632"/>
            <a:ext cx="10104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書いている途中で閉じても大丈夫です</a:t>
            </a:r>
            <a:endParaRPr lang="ja-JP" sz="1500" dirty="0"/>
          </a:p>
          <a:p>
            <a:pPr indent="0" marL="0">
              <a:buNone/>
            </a:pPr>
            <a:r>
              <a:rPr lang="ja-JP" alt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「下書き保存」を押しておけば、あとから続きを書けます。公開ボタンを押すまで、お客様には見えません。</a:t>
            </a:r>
            <a:endParaRPr lang="ja-JP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compassionate-sweet-heisenberg/mnt/dev-aspath-life-main/tools/assets/logo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8173" y="109728"/>
            <a:ext cx="209571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623533" y="128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750" dirty="0">
                <a:solidFill>
                  <a:srgbClr val="97A9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鹿児島のパーキンソン病専門トレーニングスタジオ</a:t>
            </a:r>
            <a:endParaRPr lang="ja-JP" sz="750" dirty="0"/>
          </a:p>
        </p:txBody>
      </p:sp>
      <p:sp>
        <p:nvSpPr>
          <p:cNvPr id="4" name="Shape 1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ja-JP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298448" y="347472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お知らせを出す ─ 題名と本文を書く</a:t>
            </a:r>
            <a:endParaRPr lang="ja-JP" sz="3000" dirty="0"/>
          </a:p>
        </p:txBody>
      </p:sp>
      <p:pic>
        <p:nvPicPr>
          <p:cNvPr id="7" name="Image 1" descr="/sessions/compassionate-sweet-heisenberg/mnt/dev-aspath-life-main/_wp移行素材/★引継ぎ資料/レクチャー素材/crop/11_本文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325880"/>
            <a:ext cx="11018520" cy="200253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325880"/>
            <a:ext cx="11018520" cy="20025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3466836" y="2187822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3466836" y="218782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ja-JP" sz="1400" dirty="0"/>
          </a:p>
        </p:txBody>
      </p:sp>
      <p:sp>
        <p:nvSpPr>
          <p:cNvPr id="11" name="Shape 7"/>
          <p:cNvSpPr/>
          <p:nvPr/>
        </p:nvSpPr>
        <p:spPr>
          <a:xfrm>
            <a:off x="3466836" y="2756964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3466836" y="27569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ja-JP" sz="1400" dirty="0"/>
          </a:p>
        </p:txBody>
      </p:sp>
      <p:sp>
        <p:nvSpPr>
          <p:cNvPr id="13" name="Shape 9"/>
          <p:cNvSpPr/>
          <p:nvPr/>
        </p:nvSpPr>
        <p:spPr>
          <a:xfrm>
            <a:off x="10964770" y="1783802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10964770" y="178380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ja-JP" sz="1400" dirty="0"/>
          </a:p>
        </p:txBody>
      </p:sp>
      <p:sp>
        <p:nvSpPr>
          <p:cNvPr id="15" name="Shape 11"/>
          <p:cNvSpPr/>
          <p:nvPr/>
        </p:nvSpPr>
        <p:spPr>
          <a:xfrm>
            <a:off x="9288802" y="1783802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9288802" y="178380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ja-JP" sz="1400" dirty="0"/>
          </a:p>
        </p:txBody>
      </p:sp>
      <p:sp>
        <p:nvSpPr>
          <p:cNvPr id="17" name="Shape 13"/>
          <p:cNvSpPr/>
          <p:nvPr/>
        </p:nvSpPr>
        <p:spPr>
          <a:xfrm>
            <a:off x="566928" y="3611880"/>
            <a:ext cx="365760" cy="36576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66928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ja-JP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1024128" y="35661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題名を入れる</a:t>
            </a:r>
            <a:endParaRPr lang="ja-JP" sz="1450" dirty="0"/>
          </a:p>
          <a:p>
            <a:pPr indent="0" marL="0">
              <a:buNone/>
            </a:pPr>
            <a:r>
              <a:rPr lang="ja-JP" altLang="en-US" sz="12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「年末年始の休業のお知らせ」など</a:t>
            </a:r>
            <a:endParaRPr lang="ja-JP" sz="1450" dirty="0"/>
          </a:p>
        </p:txBody>
      </p:sp>
      <p:sp>
        <p:nvSpPr>
          <p:cNvPr id="20" name="Shape 16"/>
          <p:cNvSpPr/>
          <p:nvPr/>
        </p:nvSpPr>
        <p:spPr>
          <a:xfrm>
            <a:off x="3355848" y="3611880"/>
            <a:ext cx="365760" cy="36576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3355848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ja-JP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3813048" y="35661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本文を書く</a:t>
            </a:r>
            <a:endParaRPr lang="ja-JP" sz="1450" dirty="0"/>
          </a:p>
          <a:p>
            <a:pPr indent="0" marL="0">
              <a:buNone/>
            </a:pPr>
            <a:r>
              <a:rPr lang="ja-JP" altLang="en-US" sz="12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そのまま打ち込めます</a:t>
            </a:r>
            <a:endParaRPr lang="ja-JP" sz="1450" dirty="0"/>
          </a:p>
        </p:txBody>
      </p:sp>
      <p:sp>
        <p:nvSpPr>
          <p:cNvPr id="23" name="Shape 19"/>
          <p:cNvSpPr/>
          <p:nvPr/>
        </p:nvSpPr>
        <p:spPr>
          <a:xfrm>
            <a:off x="6144768" y="3611880"/>
            <a:ext cx="365760" cy="36576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6144768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ja-JP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6601968" y="35661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公開する</a:t>
            </a:r>
            <a:endParaRPr lang="ja-JP" sz="1450" dirty="0"/>
          </a:p>
          <a:p>
            <a:pPr indent="0" marL="0">
              <a:buNone/>
            </a:pPr>
            <a:r>
              <a:rPr lang="ja-JP" altLang="en-US" sz="12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押した瞬間に載ります</a:t>
            </a:r>
            <a:endParaRPr lang="ja-JP" sz="1450" dirty="0"/>
          </a:p>
        </p:txBody>
      </p:sp>
      <p:sp>
        <p:nvSpPr>
          <p:cNvPr id="26" name="Shape 22"/>
          <p:cNvSpPr/>
          <p:nvPr/>
        </p:nvSpPr>
        <p:spPr>
          <a:xfrm>
            <a:off x="8933688" y="3611880"/>
            <a:ext cx="365760" cy="36576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8933688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ja-JP" sz="1400" dirty="0"/>
          </a:p>
        </p:txBody>
      </p:sp>
      <p:sp>
        <p:nvSpPr>
          <p:cNvPr id="28" name="Text 24"/>
          <p:cNvSpPr txBox="1"/>
          <p:nvPr/>
        </p:nvSpPr>
        <p:spPr>
          <a:xfrm>
            <a:off x="9390888" y="35661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下書き保存</a:t>
            </a:r>
            <a:endParaRPr lang="ja-JP" sz="1450" dirty="0"/>
          </a:p>
          <a:p>
            <a:pPr indent="0" marL="0">
              <a:buNone/>
            </a:pPr>
            <a:r>
              <a:rPr lang="ja-JP" altLang="en-US" sz="12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まだ載せたくないとき</a:t>
            </a:r>
            <a:endParaRPr lang="ja-JP" sz="1450" dirty="0"/>
          </a:p>
        </p:txBody>
      </p:sp>
      <p:sp>
        <p:nvSpPr>
          <p:cNvPr id="29" name="Shape 25"/>
          <p:cNvSpPr/>
          <p:nvPr/>
        </p:nvSpPr>
        <p:spPr>
          <a:xfrm>
            <a:off x="566928" y="4709160"/>
            <a:ext cx="11018520" cy="91440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875">
            <a:solidFill>
              <a:srgbClr val="F4A261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804672" y="4928616"/>
            <a:ext cx="310896" cy="310896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804672" y="49286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ja-JP" sz="1500" dirty="0"/>
          </a:p>
        </p:txBody>
      </p:sp>
      <p:sp>
        <p:nvSpPr>
          <p:cNvPr id="32" name="Text 28"/>
          <p:cNvSpPr txBox="1"/>
          <p:nvPr/>
        </p:nvSpPr>
        <p:spPr>
          <a:xfrm>
            <a:off x="1252728" y="4873752"/>
            <a:ext cx="10104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改行は Enter で問題ありません</a:t>
            </a:r>
            <a:endParaRPr lang="ja-JP" sz="1500" dirty="0"/>
          </a:p>
          <a:p>
            <a:pPr indent="0" marL="0">
              <a:buNone/>
            </a:pPr>
            <a:r>
              <a:rPr lang="ja-JP" alt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Shift＋Enter は使わないでください。行間が崩れることがあります。</a:t>
            </a:r>
            <a:endParaRPr lang="ja-JP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compassionate-sweet-heisenberg/mnt/dev-aspath-life-main/tools/assets/logo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8173" y="109728"/>
            <a:ext cx="209571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623533" y="128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750" dirty="0">
                <a:solidFill>
                  <a:srgbClr val="97A9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鹿児島のパーキンソン病専門トレーニングスタジオ</a:t>
            </a:r>
            <a:endParaRPr lang="ja-JP" sz="750" dirty="0"/>
          </a:p>
        </p:txBody>
      </p:sp>
      <p:sp>
        <p:nvSpPr>
          <p:cNvPr id="4" name="Shape 1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ja-JP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298448" y="347472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お知らせを出す ─ 「お知らせ」に分類する</a:t>
            </a:r>
            <a:endParaRPr lang="ja-JP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29844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右上の四角いアイコンを押して、設定パネルを開く</a:t>
            </a:r>
            <a:endParaRPr lang="ja-JP" sz="1500" dirty="0"/>
          </a:p>
        </p:txBody>
      </p:sp>
      <p:pic>
        <p:nvPicPr>
          <p:cNvPr id="8" name="Image 1" descr="/sessions/compassionate-sweet-heisenberg/mnt/dev-aspath-life-main/_wp移行素材/★引継ぎ資料/レクチャー素材/crop/12a_設定アイコン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37360"/>
            <a:ext cx="5120640" cy="237744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66928" y="1737360"/>
            <a:ext cx="5120640" cy="23774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2386584" y="3435096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2386584" y="3435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ja-JP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566928" y="422452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カテゴリーの「お知らせ」にチェックを入れる</a:t>
            </a:r>
            <a:endParaRPr lang="ja-JP" sz="1500" dirty="0"/>
          </a:p>
        </p:txBody>
      </p:sp>
      <p:pic>
        <p:nvPicPr>
          <p:cNvPr id="13" name="Image 2" descr="/sessions/compassionate-sweet-heisenberg/mnt/dev-aspath-life-main/_wp移行素材/★引継ぎ資料/レクチャー素材/crop/12b_カテゴリ欄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663440"/>
            <a:ext cx="4206240" cy="210312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566928" y="4663440"/>
            <a:ext cx="4206240" cy="21031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2295144" y="5367528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2295144" y="5367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ja-JP" sz="1400" dirty="0"/>
          </a:p>
        </p:txBody>
      </p:sp>
      <p:sp>
        <p:nvSpPr>
          <p:cNvPr id="17" name="Shape 12"/>
          <p:cNvSpPr/>
          <p:nvPr/>
        </p:nvSpPr>
        <p:spPr>
          <a:xfrm>
            <a:off x="6263640" y="1737360"/>
            <a:ext cx="5321808" cy="1371600"/>
          </a:xfrm>
          <a:prstGeom prst="roundRect">
            <a:avLst>
              <a:gd name="adj" fmla="val 8000"/>
            </a:avLst>
          </a:prstGeom>
          <a:solidFill>
            <a:srgbClr val="F4E9D8"/>
          </a:solidFill>
          <a:ln w="15875">
            <a:solidFill>
              <a:srgbClr val="264653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501384" y="1956816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6501384" y="1956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ja-JP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949440" y="1901952"/>
            <a:ext cx="440740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「コラム」のチェックは外してください</a:t>
            </a:r>
            <a:endParaRPr lang="ja-JP" sz="1500" dirty="0"/>
          </a:p>
          <a:p>
            <a:pPr indent="0" marL="0">
              <a:buNone/>
            </a:pPr>
            <a:r>
              <a:rPr lang="ja-JP" alt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両方に入っていると、コラム一覧にも休業のお知らせが並びます。</a:t>
            </a:r>
            <a:endParaRPr lang="ja-JP" sz="1500" dirty="0"/>
          </a:p>
        </p:txBody>
      </p:sp>
      <p:sp>
        <p:nvSpPr>
          <p:cNvPr id="21" name="Shape 16"/>
          <p:cNvSpPr/>
          <p:nvPr/>
        </p:nvSpPr>
        <p:spPr>
          <a:xfrm>
            <a:off x="6263640" y="3291840"/>
            <a:ext cx="5321808" cy="1600200"/>
          </a:xfrm>
          <a:prstGeom prst="roundRect">
            <a:avLst>
              <a:gd name="adj" fmla="val 6857"/>
            </a:avLst>
          </a:prstGeom>
          <a:solidFill>
            <a:srgbClr val="FDF0E6"/>
          </a:solidFill>
          <a:ln w="15875">
            <a:solidFill>
              <a:srgbClr val="F4A261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501384" y="3511296"/>
            <a:ext cx="310896" cy="310896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6501384" y="35112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ja-JP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6949440" y="3456432"/>
            <a:ext cx="440740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ここを間違えると</a:t>
            </a:r>
            <a:endParaRPr lang="ja-JP" sz="1500" dirty="0"/>
          </a:p>
          <a:p>
            <a:pPr indent="0" marL="0">
              <a:buNone/>
            </a:pPr>
            <a:r>
              <a:rPr lang="ja-JP" alt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読みものを探しに来た方が、休業のお知らせに行き当たって戸惑います。あとから直せますので、慌てなくて大丈夫です。</a:t>
            </a:r>
            <a:endParaRPr lang="ja-JP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compassionate-sweet-heisenberg/mnt/dev-aspath-life-main/tools/assets/logo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8173" y="109728"/>
            <a:ext cx="209571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623533" y="128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750" dirty="0">
                <a:solidFill>
                  <a:srgbClr val="97A9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鹿児島のパーキンソン病専門トレーニングスタジオ</a:t>
            </a:r>
            <a:endParaRPr lang="ja-JP" sz="750" dirty="0"/>
          </a:p>
        </p:txBody>
      </p:sp>
      <p:sp>
        <p:nvSpPr>
          <p:cNvPr id="4" name="Shape 1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ja-JP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298448" y="347472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お知らせを出す ─ 大事なお知らせを先頭に固定する</a:t>
            </a:r>
            <a:endParaRPr lang="ja-JP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2984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右側の「ステータス」の文字を押す</a:t>
            </a:r>
            <a:endParaRPr lang="ja-JP" sz="1500" dirty="0"/>
          </a:p>
        </p:txBody>
      </p:sp>
      <p:pic>
        <p:nvPicPr>
          <p:cNvPr id="8" name="Image 1" descr="/sessions/compassionate-sweet-heisenberg/mnt/dev-aspath-life-main/_wp移行素材/★引継ぎ資料/レクチャー素材/crop/13a_ステータス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37360"/>
            <a:ext cx="4937760" cy="859536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66928" y="1737360"/>
            <a:ext cx="4937760" cy="8595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625671" y="1975104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4625671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ja-JP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566928" y="2788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開いた窓で「先頭固定表示」にチェック</a:t>
            </a:r>
            <a:endParaRPr lang="ja-JP" sz="1500" dirty="0"/>
          </a:p>
        </p:txBody>
      </p:sp>
      <p:pic>
        <p:nvPicPr>
          <p:cNvPr id="13" name="Image 2" descr="/sessions/compassionate-sweet-heisenberg/mnt/dev-aspath-life-main/_wp移行素材/★引継ぎ資料/レクチャー素材/crop/13b_固定ポップ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218688"/>
            <a:ext cx="2606040" cy="356616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566928" y="3218688"/>
            <a:ext cx="2606040" cy="35661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3238331" y="6168740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3238331" y="61687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ja-JP" sz="1400" dirty="0"/>
          </a:p>
        </p:txBody>
      </p:sp>
      <p:sp>
        <p:nvSpPr>
          <p:cNvPr id="17" name="Shape 12"/>
          <p:cNvSpPr/>
          <p:nvPr/>
        </p:nvSpPr>
        <p:spPr>
          <a:xfrm>
            <a:off x="6263640" y="1737360"/>
            <a:ext cx="5321808" cy="1737360"/>
          </a:xfrm>
          <a:prstGeom prst="roundRect">
            <a:avLst>
              <a:gd name="adj" fmla="val 6316"/>
            </a:avLst>
          </a:prstGeom>
          <a:solidFill>
            <a:srgbClr val="F4E9D8"/>
          </a:solidFill>
          <a:ln w="15875">
            <a:solidFill>
              <a:srgbClr val="264653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501384" y="1956816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6501384" y="1956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ja-JP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949440" y="1901952"/>
            <a:ext cx="440740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使いどころ</a:t>
            </a:r>
            <a:endParaRPr lang="ja-JP" sz="1500" dirty="0"/>
          </a:p>
          <a:p>
            <a:pPr indent="0" marL="0">
              <a:buNone/>
            </a:pPr>
            <a:r>
              <a:rPr lang="ja-JP" alt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休業のお知らせ、キャンペーンなど「今いちばん見てほしいもの」だけに使ってください。何件も固定すると、どれが大事か分からなくなります。</a:t>
            </a:r>
            <a:endParaRPr lang="ja-JP" sz="1500" dirty="0"/>
          </a:p>
        </p:txBody>
      </p:sp>
      <p:sp>
        <p:nvSpPr>
          <p:cNvPr id="21" name="Shape 16"/>
          <p:cNvSpPr/>
          <p:nvPr/>
        </p:nvSpPr>
        <p:spPr>
          <a:xfrm>
            <a:off x="6263640" y="3657600"/>
            <a:ext cx="5321808" cy="1737360"/>
          </a:xfrm>
          <a:prstGeom prst="roundRect">
            <a:avLst>
              <a:gd name="adj" fmla="val 6316"/>
            </a:avLst>
          </a:prstGeom>
          <a:solidFill>
            <a:srgbClr val="FDF0E6"/>
          </a:solidFill>
          <a:ln w="15875">
            <a:solidFill>
              <a:srgbClr val="F4A261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501384" y="3877056"/>
            <a:ext cx="310896" cy="310896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6501384" y="3877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ja-JP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6949440" y="3822192"/>
            <a:ext cx="440740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終わったら外してください</a:t>
            </a:r>
            <a:endParaRPr lang="ja-JP" sz="1500" dirty="0"/>
          </a:p>
          <a:p>
            <a:pPr indent="0" marL="0">
              <a:buNone/>
            </a:pPr>
            <a:r>
              <a:rPr lang="ja-JP" alt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期間が過ぎたお知らせが先頭に残っていると、情報が古いサイトに見えてしまいます。同じ手順でチェックを外すだけです。</a:t>
            </a:r>
            <a:endParaRPr lang="ja-JP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compassionate-sweet-heisenberg/mnt/dev-aspath-life-main/tools/assets/logo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8173" y="109728"/>
            <a:ext cx="209571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623533" y="128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750" dirty="0">
                <a:solidFill>
                  <a:srgbClr val="97A9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鹿児島のパーキンソン病専門トレーニングスタジオ</a:t>
            </a:r>
            <a:endParaRPr lang="ja-JP" sz="750" dirty="0"/>
          </a:p>
        </p:txBody>
      </p:sp>
      <p:sp>
        <p:nvSpPr>
          <p:cNvPr id="4" name="Shape 1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ja-JP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298448" y="347472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初回体験の申込を見る ─ 一覧を開く</a:t>
            </a:r>
            <a:endParaRPr lang="ja-JP" sz="3000" dirty="0"/>
          </a:p>
        </p:txBody>
      </p:sp>
      <p:pic>
        <p:nvPicPr>
          <p:cNvPr id="7" name="Image 1" descr="/sessions/compassionate-sweet-heisenberg/mnt/dev-aspath-life-main/_wp移行素材/★引継ぎ資料/レクチャー素材/crop/21_一覧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325880"/>
            <a:ext cx="11018520" cy="2039112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325880"/>
            <a:ext cx="11018520" cy="20391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6531" y="2909290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796531" y="290929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ja-JP" sz="1400" dirty="0"/>
          </a:p>
        </p:txBody>
      </p:sp>
      <p:sp>
        <p:nvSpPr>
          <p:cNvPr id="11" name="Shape 7"/>
          <p:cNvSpPr/>
          <p:nvPr/>
        </p:nvSpPr>
        <p:spPr>
          <a:xfrm>
            <a:off x="2412768" y="2258883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2412768" y="225888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ja-JP" sz="1400" dirty="0"/>
          </a:p>
        </p:txBody>
      </p:sp>
      <p:sp>
        <p:nvSpPr>
          <p:cNvPr id="13" name="Shape 9"/>
          <p:cNvSpPr/>
          <p:nvPr/>
        </p:nvSpPr>
        <p:spPr>
          <a:xfrm>
            <a:off x="566928" y="3611880"/>
            <a:ext cx="365760" cy="36576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66928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ja-JP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042416" y="356616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左メニュー「初回体験の申込」</a:t>
            </a:r>
            <a:endParaRPr lang="ja-JP" sz="1500" dirty="0"/>
          </a:p>
          <a:p>
            <a:pPr indent="0" marL="0">
              <a:buNone/>
            </a:pPr>
            <a:r>
              <a:rPr lang="ja-JP" altLang="en-US" sz="12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お申し込みはすべてここに入ります</a:t>
            </a:r>
            <a:endParaRPr lang="ja-JP" sz="1500" dirty="0"/>
          </a:p>
        </p:txBody>
      </p:sp>
      <p:sp>
        <p:nvSpPr>
          <p:cNvPr id="16" name="Shape 12"/>
          <p:cNvSpPr/>
          <p:nvPr/>
        </p:nvSpPr>
        <p:spPr>
          <a:xfrm>
            <a:off x="6144768" y="3611880"/>
            <a:ext cx="365760" cy="36576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6144768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ja-JP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620256" y="356616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お名前の部分を押す</a:t>
            </a:r>
            <a:endParaRPr lang="ja-JP" sz="1500" dirty="0"/>
          </a:p>
          <a:p>
            <a:pPr indent="0" marL="0">
              <a:buNone/>
            </a:pPr>
            <a:r>
              <a:rPr lang="ja-JP" altLang="en-US" sz="12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申込の中身が開きます</a:t>
            </a:r>
            <a:endParaRPr lang="ja-JP" sz="1500" dirty="0"/>
          </a:p>
        </p:txBody>
      </p:sp>
      <p:sp>
        <p:nvSpPr>
          <p:cNvPr id="19" name="Shape 15"/>
          <p:cNvSpPr/>
          <p:nvPr/>
        </p:nvSpPr>
        <p:spPr>
          <a:xfrm>
            <a:off x="566928" y="4572000"/>
            <a:ext cx="11018520" cy="1234440"/>
          </a:xfrm>
          <a:prstGeom prst="roundRect">
            <a:avLst>
              <a:gd name="adj" fmla="val 8889"/>
            </a:avLst>
          </a:prstGeom>
          <a:solidFill>
            <a:srgbClr val="FDF0E6"/>
          </a:solidFill>
          <a:ln w="15875">
            <a:solidFill>
              <a:srgbClr val="F4A261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804672" y="4791456"/>
            <a:ext cx="310896" cy="310896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804672" y="4791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ja-JP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1252728" y="4736592"/>
            <a:ext cx="1010412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毎日1回は開いてください</a:t>
            </a:r>
            <a:endParaRPr lang="ja-JP" sz="1500" dirty="0"/>
          </a:p>
          <a:p>
            <a:pPr indent="0" marL="0">
              <a:buNone/>
            </a:pPr>
            <a:r>
              <a:rPr lang="ja-JP" alt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メールが迷惑メールフォルダに入ってしまっても、お申し込みはこの画面に必ず残ります。ここが最後の砦です。</a:t>
            </a:r>
            <a:endParaRPr lang="ja-JP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compassionate-sweet-heisenberg/mnt/dev-aspath-life-main/tools/assets/logo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8173" y="109728"/>
            <a:ext cx="209571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623533" y="128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750" dirty="0">
                <a:solidFill>
                  <a:srgbClr val="97A9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鹿児島のパーキンソン病専門トレーニングスタジオ</a:t>
            </a:r>
            <a:endParaRPr lang="ja-JP" sz="750" dirty="0"/>
          </a:p>
        </p:txBody>
      </p:sp>
      <p:sp>
        <p:nvSpPr>
          <p:cNvPr id="4" name="Shape 1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ja-JP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298448" y="347472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初回体験の申込を見る ─ 中身を確認する</a:t>
            </a:r>
            <a:endParaRPr lang="ja-JP" sz="3000" dirty="0"/>
          </a:p>
        </p:txBody>
      </p:sp>
      <p:pic>
        <p:nvPicPr>
          <p:cNvPr id="7" name="Image 1" descr="/sessions/compassionate-sweet-heisenberg/mnt/dev-aspath-life-main/_wp移行素材/★引継ぎ資料/レクチャー素材/crop/22_中身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7680960" cy="262432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298448"/>
            <a:ext cx="7680960" cy="26243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595360" y="12984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1画面で分かること</a:t>
            </a:r>
            <a:endParaRPr lang="ja-JP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595360" y="1737360"/>
            <a:ext cx="31089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altLang="en-US" sz="125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お名前・フリガナ</a:t>
            </a:r>
            <a:endParaRPr lang="ja-JP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altLang="en-US" sz="125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生年月日</a:t>
            </a:r>
            <a:endParaRPr lang="ja-JP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altLang="en-US" sz="125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メールアドレス</a:t>
            </a:r>
            <a:endParaRPr lang="ja-JP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altLang="en-US" sz="125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お電話番号</a:t>
            </a:r>
            <a:endParaRPr lang="ja-JP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altLang="en-US" sz="125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ご住所</a:t>
            </a:r>
            <a:endParaRPr lang="ja-JP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altLang="en-US" sz="125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どなたのご相談か</a:t>
            </a:r>
            <a:endParaRPr lang="ja-JP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altLang="en-US" sz="125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医師からの診断名</a:t>
            </a:r>
            <a:endParaRPr lang="ja-JP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altLang="en-US" sz="125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困っていること</a:t>
            </a:r>
            <a:endParaRPr lang="ja-JP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altLang="en-US" sz="125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ASPATHを知ったきっかけ</a:t>
            </a:r>
            <a:endParaRPr lang="ja-JP" sz="125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7680960" cy="960120"/>
          </a:xfrm>
          <a:prstGeom prst="roundRect">
            <a:avLst>
              <a:gd name="adj" fmla="val 11429"/>
            </a:avLst>
          </a:prstGeom>
          <a:solidFill>
            <a:srgbClr val="FDF0E6"/>
          </a:solidFill>
          <a:ln w="15875">
            <a:solidFill>
              <a:srgbClr val="F4A26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04672" y="4379976"/>
            <a:ext cx="310896" cy="310896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04672" y="43799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ja-JP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1252728" y="4325112"/>
            <a:ext cx="67665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この画面は編集しないでください</a:t>
            </a:r>
            <a:endParaRPr lang="ja-JP" sz="1500" dirty="0"/>
          </a:p>
          <a:p>
            <a:pPr indent="0" marL="0">
              <a:buNone/>
            </a:pPr>
            <a:r>
              <a:rPr lang="ja-JP" alt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お客様が送ってくださった内容の控えです。書き換えると、あとで確認できなくなります。</a:t>
            </a:r>
            <a:endParaRPr lang="ja-JP" sz="1500" dirty="0"/>
          </a:p>
        </p:txBody>
      </p:sp>
      <p:sp>
        <p:nvSpPr>
          <p:cNvPr id="15" name="Shape 11"/>
          <p:cNvSpPr/>
          <p:nvPr/>
        </p:nvSpPr>
        <p:spPr>
          <a:xfrm>
            <a:off x="566928" y="5257800"/>
            <a:ext cx="11018520" cy="91440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875">
            <a:solidFill>
              <a:srgbClr val="F4A261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04672" y="5477256"/>
            <a:ext cx="310896" cy="310896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804672" y="5477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ja-JP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1252728" y="5422392"/>
            <a:ext cx="10104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診断名などの大切な情報が入っています</a:t>
            </a:r>
            <a:endParaRPr lang="ja-JP" sz="1500" dirty="0"/>
          </a:p>
          <a:p>
            <a:pPr indent="0" marL="0">
              <a:buNone/>
            </a:pPr>
            <a:r>
              <a:rPr lang="ja-JP" alt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画面を開いたまま席を離れない、印刷物を放置しない。ご本人以外の目に触れないよう、取り扱いにご注意ください。</a:t>
            </a:r>
            <a:endParaRPr lang="ja-JP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compassionate-sweet-heisenberg/mnt/dev-aspath-life-main/tools/assets/logo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8173" y="109728"/>
            <a:ext cx="209571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623533" y="128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750" dirty="0">
                <a:solidFill>
                  <a:srgbClr val="97A9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鹿児島のパーキンソン病専門トレーニングスタジオ</a:t>
            </a:r>
            <a:endParaRPr lang="ja-JP" sz="750" dirty="0"/>
          </a:p>
        </p:txBody>
      </p:sp>
      <p:sp>
        <p:nvSpPr>
          <p:cNvPr id="4" name="Shape 1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ja-JP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298448" y="347472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写真を差し替える</a:t>
            </a:r>
            <a:endParaRPr lang="ja-JP" sz="3000" dirty="0"/>
          </a:p>
        </p:txBody>
      </p:sp>
      <p:pic>
        <p:nvPicPr>
          <p:cNvPr id="7" name="Image 1" descr="/sessions/compassionate-sweet-heisenberg/mnt/dev-aspath-life-main/_wp移行素材/★引継ぎ資料/レクチャー素材/crop/31_置換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7680960" cy="513892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298448"/>
            <a:ext cx="7680960" cy="51389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548384" y="4624777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1548384" y="462477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ja-JP" sz="1400" dirty="0"/>
          </a:p>
        </p:txBody>
      </p:sp>
      <p:sp>
        <p:nvSpPr>
          <p:cNvPr id="11" name="Shape 7"/>
          <p:cNvSpPr/>
          <p:nvPr/>
        </p:nvSpPr>
        <p:spPr>
          <a:xfrm>
            <a:off x="3959352" y="1330319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3959352" y="133031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ja-JP" sz="1400" dirty="0"/>
          </a:p>
        </p:txBody>
      </p:sp>
      <p:sp>
        <p:nvSpPr>
          <p:cNvPr id="13" name="Shape 9"/>
          <p:cNvSpPr/>
          <p:nvPr/>
        </p:nvSpPr>
        <p:spPr>
          <a:xfrm>
            <a:off x="8595360" y="1316736"/>
            <a:ext cx="347472" cy="347472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8595360" y="13167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ja-JP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9098280" y="1243584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写真を1回押す</a:t>
            </a:r>
            <a:endParaRPr lang="ja-JP" sz="1500" dirty="0"/>
          </a:p>
          <a:p>
            <a:pPr indent="0" marL="0">
              <a:buNone/>
            </a:pPr>
            <a:r>
              <a:rPr lang="ja-JP" altLang="en-US" sz="13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青い枠が付いて、上に道具が並びます</a:t>
            </a:r>
            <a:endParaRPr lang="ja-JP" sz="1500" dirty="0"/>
          </a:p>
        </p:txBody>
      </p:sp>
      <p:sp>
        <p:nvSpPr>
          <p:cNvPr id="16" name="Shape 12"/>
          <p:cNvSpPr/>
          <p:nvPr/>
        </p:nvSpPr>
        <p:spPr>
          <a:xfrm>
            <a:off x="8595360" y="2139696"/>
            <a:ext cx="347472" cy="347472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8595360" y="2139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ja-JP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9098280" y="2066544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「置換」を押す</a:t>
            </a:r>
            <a:endParaRPr lang="ja-JP" sz="1500" dirty="0"/>
          </a:p>
          <a:p>
            <a:pPr indent="0" marL="0">
              <a:buNone/>
            </a:pPr>
            <a:r>
              <a:rPr lang="ja-JP" altLang="en-US" sz="13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新しい写真を選ぶ画面が開きます</a:t>
            </a:r>
            <a:endParaRPr lang="ja-JP" sz="1500" dirty="0"/>
          </a:p>
        </p:txBody>
      </p:sp>
      <p:sp>
        <p:nvSpPr>
          <p:cNvPr id="19" name="Shape 15"/>
          <p:cNvSpPr/>
          <p:nvPr/>
        </p:nvSpPr>
        <p:spPr>
          <a:xfrm>
            <a:off x="8595360" y="2962656"/>
            <a:ext cx="347472" cy="347472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595360" y="29626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ja-JP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9098280" y="2889504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写真を選ぶ</a:t>
            </a:r>
            <a:endParaRPr lang="ja-JP" sz="1500" dirty="0"/>
          </a:p>
          <a:p>
            <a:pPr indent="0" marL="0">
              <a:buNone/>
            </a:pPr>
            <a:r>
              <a:rPr lang="ja-JP" altLang="en-US" sz="13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パソコンから選ぶか、すでに入っているものから選びます</a:t>
            </a:r>
            <a:endParaRPr lang="ja-JP" sz="1500" dirty="0"/>
          </a:p>
        </p:txBody>
      </p:sp>
      <p:sp>
        <p:nvSpPr>
          <p:cNvPr id="22" name="Shape 18"/>
          <p:cNvSpPr/>
          <p:nvPr/>
        </p:nvSpPr>
        <p:spPr>
          <a:xfrm>
            <a:off x="8595360" y="3785616"/>
            <a:ext cx="347472" cy="347472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8595360" y="3785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ja-JP" sz="1300" dirty="0"/>
          </a:p>
        </p:txBody>
      </p:sp>
      <p:sp>
        <p:nvSpPr>
          <p:cNvPr id="24" name="Text 20"/>
          <p:cNvSpPr txBox="1"/>
          <p:nvPr/>
        </p:nvSpPr>
        <p:spPr>
          <a:xfrm>
            <a:off x="9098280" y="3712464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「更新」を押す</a:t>
            </a:r>
            <a:endParaRPr lang="ja-JP" sz="1500" dirty="0"/>
          </a:p>
          <a:p>
            <a:pPr indent="0" marL="0">
              <a:buNone/>
            </a:pPr>
            <a:r>
              <a:rPr lang="ja-JP" altLang="en-US" sz="13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右上のボタンです</a:t>
            </a:r>
            <a:endParaRPr lang="ja-JP" sz="1500" dirty="0"/>
          </a:p>
        </p:txBody>
      </p:sp>
      <p:sp>
        <p:nvSpPr>
          <p:cNvPr id="25" name="Shape 21"/>
          <p:cNvSpPr/>
          <p:nvPr/>
        </p:nvSpPr>
        <p:spPr>
          <a:xfrm>
            <a:off x="8595360" y="4617720"/>
            <a:ext cx="3108960" cy="1536192"/>
          </a:xfrm>
          <a:prstGeom prst="roundRect">
            <a:avLst>
              <a:gd name="adj" fmla="val 7143"/>
            </a:avLst>
          </a:prstGeom>
          <a:solidFill>
            <a:srgbClr val="F4E9D8"/>
          </a:solidFill>
          <a:ln w="15875">
            <a:solidFill>
              <a:srgbClr val="264653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833104" y="4837176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8833104" y="48371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ja-JP" sz="1500" dirty="0"/>
          </a:p>
        </p:txBody>
      </p:sp>
      <p:sp>
        <p:nvSpPr>
          <p:cNvPr id="28" name="Text 24"/>
          <p:cNvSpPr txBox="1"/>
          <p:nvPr/>
        </p:nvSpPr>
        <p:spPr>
          <a:xfrm>
            <a:off x="9281160" y="4782312"/>
            <a:ext cx="219456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元の写真は消えません</a:t>
            </a:r>
            <a:endParaRPr lang="ja-JP" sz="1500" dirty="0"/>
          </a:p>
          <a:p>
            <a:pPr indent="0" marL="0">
              <a:buNone/>
            </a:pPr>
            <a:r>
              <a:rPr lang="ja-JP" alt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差し替えても前の写真はメディアに残ります。戻したくなったら同じ手順で選び直せます。</a:t>
            </a:r>
            <a:endParaRPr lang="ja-JP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compassionate-sweet-heisenberg/mnt/dev-aspath-life-main/tools/assets/logo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8173" y="109728"/>
            <a:ext cx="209571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623533" y="128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750" dirty="0">
                <a:solidFill>
                  <a:srgbClr val="97A9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鹿児島のパーキンソン病専門トレーニングスタジオ</a:t>
            </a:r>
            <a:endParaRPr lang="ja-JP" sz="750" dirty="0"/>
          </a:p>
        </p:txBody>
      </p:sp>
      <p:sp>
        <p:nvSpPr>
          <p:cNvPr id="4" name="Shape 1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ja-JP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298448" y="347472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コメントに対応する ─ 承認待ちを見る</a:t>
            </a:r>
            <a:endParaRPr lang="ja-JP" sz="3000" dirty="0"/>
          </a:p>
        </p:txBody>
      </p:sp>
      <p:pic>
        <p:nvPicPr>
          <p:cNvPr id="7" name="Image 1" descr="/sessions/compassionate-sweet-heisenberg/mnt/dev-aspath-life-main/_wp移行素材/★引継ぎ資料/レクチャー素材/crop/41_コメント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325880"/>
            <a:ext cx="11018520" cy="2423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325880"/>
            <a:ext cx="11018520" cy="24231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464107" y="2721201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1464107" y="272120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ja-JP" sz="1400" dirty="0"/>
          </a:p>
        </p:txBody>
      </p:sp>
      <p:sp>
        <p:nvSpPr>
          <p:cNvPr id="11" name="Shape 7"/>
          <p:cNvSpPr/>
          <p:nvPr/>
        </p:nvSpPr>
        <p:spPr>
          <a:xfrm>
            <a:off x="4450632" y="1534204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4450632" y="15342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ja-JP" sz="1400" dirty="0"/>
          </a:p>
        </p:txBody>
      </p:sp>
      <p:sp>
        <p:nvSpPr>
          <p:cNvPr id="13" name="Shape 9"/>
          <p:cNvSpPr/>
          <p:nvPr/>
        </p:nvSpPr>
        <p:spPr>
          <a:xfrm>
            <a:off x="5856056" y="2686083"/>
            <a:ext cx="384048" cy="384048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5856056" y="268608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ja-JP" sz="1400" dirty="0"/>
          </a:p>
        </p:txBody>
      </p:sp>
      <p:sp>
        <p:nvSpPr>
          <p:cNvPr id="15" name="Shape 11"/>
          <p:cNvSpPr/>
          <p:nvPr/>
        </p:nvSpPr>
        <p:spPr>
          <a:xfrm>
            <a:off x="566928" y="3977640"/>
            <a:ext cx="365760" cy="36576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66928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ja-JP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1042416" y="39319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左メニュー「コメント」</a:t>
            </a:r>
            <a:endParaRPr lang="ja-JP" sz="1450" dirty="0"/>
          </a:p>
          <a:p>
            <a:pPr indent="0" marL="0">
              <a:buNone/>
            </a:pPr>
            <a:r>
              <a:rPr lang="ja-JP" altLang="en-US" sz="12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数字は承認待ちの件数</a:t>
            </a:r>
            <a:endParaRPr lang="ja-JP" sz="1450" dirty="0"/>
          </a:p>
        </p:txBody>
      </p:sp>
      <p:sp>
        <p:nvSpPr>
          <p:cNvPr id="18" name="Shape 14"/>
          <p:cNvSpPr/>
          <p:nvPr/>
        </p:nvSpPr>
        <p:spPr>
          <a:xfrm>
            <a:off x="4288536" y="3977640"/>
            <a:ext cx="365760" cy="36576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4288536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ja-JP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4764024" y="39319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「承認待ち」を押す</a:t>
            </a:r>
            <a:endParaRPr lang="ja-JP" sz="1450" dirty="0"/>
          </a:p>
          <a:p>
            <a:pPr indent="0" marL="0">
              <a:buNone/>
            </a:pPr>
            <a:r>
              <a:rPr lang="ja-JP" altLang="en-US" sz="12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対応が必要なものだけ出ます</a:t>
            </a:r>
            <a:endParaRPr lang="ja-JP" sz="1450" dirty="0"/>
          </a:p>
        </p:txBody>
      </p:sp>
      <p:sp>
        <p:nvSpPr>
          <p:cNvPr id="21" name="Shape 17"/>
          <p:cNvSpPr/>
          <p:nvPr/>
        </p:nvSpPr>
        <p:spPr>
          <a:xfrm>
            <a:off x="8010144" y="3977640"/>
            <a:ext cx="365760" cy="36576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8010144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ja-JP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8485632" y="39319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中身を読む</a:t>
            </a:r>
            <a:endParaRPr lang="ja-JP" sz="1450" dirty="0"/>
          </a:p>
          <a:p>
            <a:pPr indent="0" marL="0">
              <a:buNone/>
            </a:pPr>
            <a:r>
              <a:rPr lang="ja-JP" altLang="en-US" sz="12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承認かスパムかを決めます</a:t>
            </a:r>
            <a:endParaRPr lang="ja-JP" sz="1450" dirty="0"/>
          </a:p>
        </p:txBody>
      </p:sp>
      <p:sp>
        <p:nvSpPr>
          <p:cNvPr id="24" name="Shape 20"/>
          <p:cNvSpPr/>
          <p:nvPr/>
        </p:nvSpPr>
        <p:spPr>
          <a:xfrm>
            <a:off x="566928" y="4937760"/>
            <a:ext cx="11018520" cy="1051560"/>
          </a:xfrm>
          <a:prstGeom prst="roundRect">
            <a:avLst>
              <a:gd name="adj" fmla="val 10435"/>
            </a:avLst>
          </a:prstGeom>
          <a:solidFill>
            <a:srgbClr val="F4E9D8"/>
          </a:solidFill>
          <a:ln w="15875">
            <a:solidFill>
              <a:srgbClr val="264653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804672" y="5157216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804672" y="51572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ja-JP" sz="1500" dirty="0"/>
          </a:p>
        </p:txBody>
      </p:sp>
      <p:sp>
        <p:nvSpPr>
          <p:cNvPr id="27" name="Text 23"/>
          <p:cNvSpPr txBox="1"/>
          <p:nvPr/>
        </p:nvSpPr>
        <p:spPr>
          <a:xfrm>
            <a:off x="1252728" y="5102352"/>
            <a:ext cx="10104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承認するまで、お客様には見えません</a:t>
            </a:r>
            <a:endParaRPr lang="ja-JP" sz="1500" dirty="0"/>
          </a:p>
          <a:p>
            <a:pPr indent="0" marL="0">
              <a:buNone/>
            </a:pPr>
            <a:r>
              <a:rPr lang="ja-JP" alt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放置しても表示はされません。慌てなくて大丈夫です。上の2件は、実際に届いたスパムです。</a:t>
            </a:r>
            <a:endParaRPr lang="ja-JP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E9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compassionate-sweet-heisenberg/mnt/dev-aspath-life-main/tools/assets/logo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8173" y="109728"/>
            <a:ext cx="209571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623533" y="128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750" dirty="0">
                <a:solidFill>
                  <a:srgbClr val="97A9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鹿児島のパーキンソン病専門トレーニングスタジオ</a:t>
            </a:r>
            <a:endParaRPr lang="ja-JP" sz="750" dirty="0"/>
          </a:p>
        </p:txBody>
      </p:sp>
      <p:sp>
        <p:nvSpPr>
          <p:cNvPr id="4" name="Shape 1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ja-JP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298448" y="347472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コメントに対応する ─ スパムの見分け方</a:t>
            </a:r>
            <a:endParaRPr lang="ja-JP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170432"/>
            <a:ext cx="11018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いま届いている2件は、両方ともスパムでした</a:t>
            </a:r>
            <a:endParaRPr lang="ja-JP" sz="1600" dirty="0"/>
          </a:p>
        </p:txBody>
      </p:sp>
      <p:sp>
        <p:nvSpPr>
          <p:cNvPr id="8" name="Shape 5"/>
          <p:cNvSpPr/>
          <p:nvPr/>
        </p:nvSpPr>
        <p:spPr>
          <a:xfrm>
            <a:off x="566928" y="1691640"/>
            <a:ext cx="534924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2960" y="2075688"/>
            <a:ext cx="402336" cy="402336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2960" y="20756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ja-JP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71600" y="187452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英語で書かれている</a:t>
            </a:r>
            <a:endParaRPr lang="ja-JP" sz="1450" dirty="0"/>
          </a:p>
          <a:p>
            <a:pPr indent="0" marL="0">
              <a:buNone/>
            </a:pPr>
            <a:r>
              <a:rPr lang="ja-JP" altLang="en-US" sz="12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日本語のサイトに英語のコメントは、ほぼ宣伝です</a:t>
            </a:r>
            <a:endParaRPr lang="ja-JP" sz="1450" dirty="0"/>
          </a:p>
        </p:txBody>
      </p:sp>
      <p:sp>
        <p:nvSpPr>
          <p:cNvPr id="12" name="Shape 9"/>
          <p:cNvSpPr/>
          <p:nvPr/>
        </p:nvSpPr>
        <p:spPr>
          <a:xfrm>
            <a:off x="6236208" y="1691640"/>
            <a:ext cx="534924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492240" y="2075688"/>
            <a:ext cx="402336" cy="402336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92240" y="20756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ja-JP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187452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知らないサイトへのリンク</a:t>
            </a:r>
            <a:endParaRPr lang="ja-JP" sz="1450" dirty="0"/>
          </a:p>
          <a:p>
            <a:pPr indent="0" marL="0">
              <a:buNone/>
            </a:pPr>
            <a:r>
              <a:rPr lang="ja-JP" altLang="en-US" sz="12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カジノ・投資などのURLが本文や名前に入っています</a:t>
            </a:r>
            <a:endParaRPr lang="ja-JP" sz="1450" dirty="0"/>
          </a:p>
        </p:txBody>
      </p:sp>
      <p:sp>
        <p:nvSpPr>
          <p:cNvPr id="16" name="Shape 13"/>
          <p:cNvSpPr/>
          <p:nvPr/>
        </p:nvSpPr>
        <p:spPr>
          <a:xfrm>
            <a:off x="566928" y="3063240"/>
            <a:ext cx="534924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2960" y="3447288"/>
            <a:ext cx="402336" cy="402336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22960" y="3447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ja-JP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71600" y="324612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記事と関係がない</a:t>
            </a:r>
            <a:endParaRPr lang="ja-JP" sz="1450" dirty="0"/>
          </a:p>
          <a:p>
            <a:pPr indent="0" marL="0">
              <a:buNone/>
            </a:pPr>
            <a:r>
              <a:rPr lang="ja-JP" altLang="en-US" sz="12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体幹の記事に「ルーレット戦略」など、話が噛み合いません</a:t>
            </a:r>
            <a:endParaRPr lang="ja-JP" sz="1450" dirty="0"/>
          </a:p>
        </p:txBody>
      </p:sp>
      <p:sp>
        <p:nvSpPr>
          <p:cNvPr id="20" name="Shape 17"/>
          <p:cNvSpPr/>
          <p:nvPr/>
        </p:nvSpPr>
        <p:spPr>
          <a:xfrm>
            <a:off x="6236208" y="3063240"/>
            <a:ext cx="534924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92240" y="3447288"/>
            <a:ext cx="402336" cy="402336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92240" y="3447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ja-JP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324612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妙に褒めてくる</a:t>
            </a:r>
            <a:endParaRPr lang="ja-JP" sz="1450" dirty="0"/>
          </a:p>
          <a:p>
            <a:pPr indent="0" marL="0">
              <a:buNone/>
            </a:pPr>
            <a:r>
              <a:rPr lang="ja-JP" altLang="en-US" sz="12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中身のない称賛だけで、具体的な感想がありません</a:t>
            </a:r>
            <a:endParaRPr lang="ja-JP" sz="1450" dirty="0"/>
          </a:p>
        </p:txBody>
      </p:sp>
      <p:sp>
        <p:nvSpPr>
          <p:cNvPr id="24" name="Shape 21"/>
          <p:cNvSpPr/>
          <p:nvPr/>
        </p:nvSpPr>
        <p:spPr>
          <a:xfrm>
            <a:off x="566928" y="4526280"/>
            <a:ext cx="11018520" cy="1051560"/>
          </a:xfrm>
          <a:prstGeom prst="roundRect">
            <a:avLst>
              <a:gd name="adj" fmla="val 10435"/>
            </a:avLst>
          </a:prstGeom>
          <a:solidFill>
            <a:srgbClr val="FDF0E6"/>
          </a:solidFill>
          <a:ln w="15875">
            <a:solidFill>
              <a:srgbClr val="F4A26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04672" y="4745736"/>
            <a:ext cx="310896" cy="310896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04672" y="4745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ja-JP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1252728" y="4690872"/>
            <a:ext cx="10104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迷ったら「スパム」を選んでください</a:t>
            </a:r>
            <a:endParaRPr lang="ja-JP" sz="1500" dirty="0"/>
          </a:p>
          <a:p>
            <a:pPr indent="0" marL="0">
              <a:buNone/>
            </a:pPr>
            <a:r>
              <a:rPr lang="ja-JP" alt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承認すると、パーキンソン病専門サイトにカジノへのリンクが載ってしまいます。間違えて本物をスパムにしても、あとから戻せます。</a:t>
            </a:r>
            <a:endParaRPr lang="ja-JP" sz="1500" dirty="0"/>
          </a:p>
        </p:txBody>
      </p:sp>
      <p:sp>
        <p:nvSpPr>
          <p:cNvPr id="28" name="Shape 25"/>
          <p:cNvSpPr/>
          <p:nvPr/>
        </p:nvSpPr>
        <p:spPr>
          <a:xfrm>
            <a:off x="566928" y="5687568"/>
            <a:ext cx="11018520" cy="777240"/>
          </a:xfrm>
          <a:prstGeom prst="roundRect">
            <a:avLst>
              <a:gd name="adj" fmla="val 14118"/>
            </a:avLst>
          </a:prstGeom>
          <a:solidFill>
            <a:srgbClr val="F4E9D8"/>
          </a:solidFill>
          <a:ln w="15875">
            <a:solidFill>
              <a:srgbClr val="264653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04672" y="5907024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804672" y="5907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ja-JP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1252728" y="5852160"/>
            <a:ext cx="101041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承認したコメントは、長いものだけ自動で折りたたまれ「もっと見る」で開きます（2026年9月〜）</a:t>
            </a:r>
            <a:endParaRPr lang="ja-JP" sz="1500" dirty="0"/>
          </a:p>
          <a:p>
            <a:pPr indent="0" marL="0">
              <a:buNone/>
            </a:pPr>
            <a:r>
              <a:rPr lang="ja-JP" altLang="en-US" sz="130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文字も記事本文より少し小さくしてあります。次の方が書き込みやすいようにするための調整で、山口様の操作は不要です。</a:t>
            </a:r>
            <a:endParaRPr lang="ja-JP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compassionate-sweet-heisenberg/mnt/dev-aspath-life-main/tools/assets/logo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8173" y="109728"/>
            <a:ext cx="209571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623533" y="128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750" dirty="0">
                <a:solidFill>
                  <a:srgbClr val="97A9A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鹿児島のパーキンソン病専門トレーニングスタジオ</a:t>
            </a:r>
            <a:endParaRPr lang="ja-JP" sz="75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47472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困ったときは</a:t>
            </a:r>
            <a:endParaRPr lang="ja-JP" sz="3000" dirty="0"/>
          </a:p>
        </p:txBody>
      </p:sp>
      <p:sp>
        <p:nvSpPr>
          <p:cNvPr id="5" name="Shape 2"/>
          <p:cNvSpPr/>
          <p:nvPr/>
        </p:nvSpPr>
        <p:spPr>
          <a:xfrm>
            <a:off x="566928" y="1325880"/>
            <a:ext cx="11018520" cy="1024128"/>
          </a:xfrm>
          <a:prstGeom prst="roundRect">
            <a:avLst>
              <a:gd name="adj" fmla="val 10714"/>
            </a:avLst>
          </a:prstGeom>
          <a:solidFill>
            <a:srgbClr val="F7FAFA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721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ja-JP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1453896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直したのに画面が変わらない</a:t>
            </a:r>
            <a:endParaRPr lang="ja-JP" sz="1500" dirty="0"/>
          </a:p>
          <a:p>
            <a:pPr indent="0" marL="0">
              <a:buNone/>
            </a:pPr>
            <a:r>
              <a:rPr lang="ja-JP" altLang="en-US" sz="125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左メニュー「Super Page Cache」→ 赤い「Purge Cache」を押してから、Ctrl キーを押しながら F5 で再読み込みしてください。</a:t>
            </a:r>
            <a:endParaRPr lang="ja-JP" sz="1500" dirty="0"/>
          </a:p>
        </p:txBody>
      </p:sp>
      <p:sp>
        <p:nvSpPr>
          <p:cNvPr id="8" name="Shape 5"/>
          <p:cNvSpPr/>
          <p:nvPr/>
        </p:nvSpPr>
        <p:spPr>
          <a:xfrm>
            <a:off x="566928" y="2496312"/>
            <a:ext cx="11018520" cy="1024128"/>
          </a:xfrm>
          <a:prstGeom prst="roundRect">
            <a:avLst>
              <a:gd name="adj" fmla="val 10714"/>
            </a:avLst>
          </a:prstGeom>
          <a:solidFill>
            <a:srgbClr val="F4E9D8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6426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ja-JP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2624328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間違えて公開してしまった</a:t>
            </a:r>
            <a:endParaRPr lang="ja-JP" sz="1500" dirty="0"/>
          </a:p>
          <a:p>
            <a:pPr indent="0" marL="0">
              <a:buNone/>
            </a:pPr>
            <a:r>
              <a:rPr lang="ja-JP" altLang="en-US" sz="125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その記事を開き、「ステータス」から「下書き」に戻せば、お客様には見えなくなります。</a:t>
            </a:r>
            <a:endParaRPr lang="ja-JP" sz="1500" dirty="0"/>
          </a:p>
        </p:txBody>
      </p:sp>
      <p:sp>
        <p:nvSpPr>
          <p:cNvPr id="11" name="Shape 8"/>
          <p:cNvSpPr/>
          <p:nvPr/>
        </p:nvSpPr>
        <p:spPr>
          <a:xfrm>
            <a:off x="566928" y="3666744"/>
            <a:ext cx="11018520" cy="1024128"/>
          </a:xfrm>
          <a:prstGeom prst="roundRect">
            <a:avLst>
              <a:gd name="adj" fmla="val 10714"/>
            </a:avLst>
          </a:prstGeom>
          <a:solidFill>
            <a:srgbClr val="F7FAFA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813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ja-JP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234440" y="379476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消してしまった</a:t>
            </a:r>
            <a:endParaRPr lang="ja-JP" sz="1500" dirty="0"/>
          </a:p>
          <a:p>
            <a:pPr indent="0" marL="0">
              <a:buNone/>
            </a:pPr>
            <a:r>
              <a:rPr lang="ja-JP" altLang="en-US" sz="125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「ゴミ箱」に残っています。ゴミ箱を開いて「復元」を押してください。</a:t>
            </a:r>
            <a:endParaRPr lang="ja-JP" sz="1500" dirty="0"/>
          </a:p>
        </p:txBody>
      </p:sp>
      <p:sp>
        <p:nvSpPr>
          <p:cNvPr id="14" name="Shape 11"/>
          <p:cNvSpPr/>
          <p:nvPr/>
        </p:nvSpPr>
        <p:spPr>
          <a:xfrm>
            <a:off x="566928" y="4837176"/>
            <a:ext cx="11018520" cy="1024128"/>
          </a:xfrm>
          <a:prstGeom prst="roundRect">
            <a:avLst>
              <a:gd name="adj" fmla="val 10714"/>
            </a:avLst>
          </a:prstGeom>
          <a:solidFill>
            <a:srgbClr val="F4E9D8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4983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ja-JP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234440" y="4965192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パスワードが分からない</a:t>
            </a:r>
            <a:endParaRPr lang="ja-JP" sz="1500" dirty="0"/>
          </a:p>
          <a:p>
            <a:pPr indent="0" marL="0">
              <a:buNone/>
            </a:pPr>
            <a:r>
              <a:rPr lang="ja-JP" altLang="en-US" sz="1250" dirty="0">
                <a:solidFill>
                  <a:srgbClr val="1E3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ログイン画面の「パスワードをお忘れですか？」から再設定できます。</a:t>
            </a:r>
            <a:endParaRPr lang="ja-JP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覚えていただきたいのは、3つだけです</a:t>
            </a:r>
            <a:endParaRPr lang="ja-JP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920240"/>
            <a:ext cx="3383280" cy="2834640"/>
          </a:xfrm>
          <a:prstGeom prst="roundRect">
            <a:avLst>
              <a:gd name="adj" fmla="val 4516"/>
            </a:avLst>
          </a:prstGeom>
          <a:solidFill>
            <a:srgbClr val="1E3A44"/>
          </a:solidFill>
          <a:ln/>
        </p:spPr>
      </p:sp>
      <p:sp>
        <p:nvSpPr>
          <p:cNvPr id="4" name="Shape 2"/>
          <p:cNvSpPr/>
          <p:nvPr/>
        </p:nvSpPr>
        <p:spPr>
          <a:xfrm>
            <a:off x="2194560" y="2212848"/>
            <a:ext cx="640080" cy="64008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194560" y="22128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ja-JP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3017520"/>
            <a:ext cx="29809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公開を押すまで、</a:t>
            </a:r>
            <a:endParaRPr lang="ja-JP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お客様には見えない</a:t>
            </a:r>
            <a:endParaRPr lang="ja-JP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3977640"/>
            <a:ext cx="2980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dirty="0">
                <a:solidFill>
                  <a:srgbClr val="AFC8C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安心して書きかけで保存してください</a:t>
            </a:r>
            <a:endParaRPr lang="ja-JP" sz="1200" dirty="0"/>
          </a:p>
        </p:txBody>
      </p:sp>
      <p:sp>
        <p:nvSpPr>
          <p:cNvPr id="8" name="Shape 6"/>
          <p:cNvSpPr/>
          <p:nvPr/>
        </p:nvSpPr>
        <p:spPr>
          <a:xfrm>
            <a:off x="4526280" y="1920240"/>
            <a:ext cx="3383280" cy="2834640"/>
          </a:xfrm>
          <a:prstGeom prst="roundRect">
            <a:avLst>
              <a:gd name="adj" fmla="val 4516"/>
            </a:avLst>
          </a:prstGeom>
          <a:solidFill>
            <a:srgbClr val="1E3A44"/>
          </a:solidFill>
          <a:ln/>
        </p:spPr>
      </p:sp>
      <p:sp>
        <p:nvSpPr>
          <p:cNvPr id="9" name="Shape 7"/>
          <p:cNvSpPr/>
          <p:nvPr/>
        </p:nvSpPr>
        <p:spPr>
          <a:xfrm>
            <a:off x="5897880" y="2212848"/>
            <a:ext cx="640080" cy="64008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97880" y="22128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ja-JP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4727448" y="3017520"/>
            <a:ext cx="29809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変わらないときは</a:t>
            </a:r>
            <a:endParaRPr lang="ja-JP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キャッシュを消す</a:t>
            </a:r>
            <a:endParaRPr lang="ja-JP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727448" y="3977640"/>
            <a:ext cx="2980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dirty="0">
                <a:solidFill>
                  <a:srgbClr val="AFC8C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Super Page Cache → Purge Cache</a:t>
            </a:r>
            <a:endParaRPr lang="ja-JP" sz="1200" dirty="0"/>
          </a:p>
        </p:txBody>
      </p:sp>
      <p:sp>
        <p:nvSpPr>
          <p:cNvPr id="13" name="Shape 11"/>
          <p:cNvSpPr/>
          <p:nvPr/>
        </p:nvSpPr>
        <p:spPr>
          <a:xfrm>
            <a:off x="8229600" y="1920240"/>
            <a:ext cx="3383280" cy="2834640"/>
          </a:xfrm>
          <a:prstGeom prst="roundRect">
            <a:avLst>
              <a:gd name="adj" fmla="val 4516"/>
            </a:avLst>
          </a:prstGeom>
          <a:solidFill>
            <a:srgbClr val="1E3A44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0" y="2212848"/>
            <a:ext cx="640080" cy="64008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0" y="22128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ja-JP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8430768" y="3017520"/>
            <a:ext cx="29809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コメントは</a:t>
            </a:r>
            <a:endParaRPr lang="ja-JP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迷ったらスパムへ</a:t>
            </a:r>
            <a:endParaRPr lang="ja-JP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430768" y="3977640"/>
            <a:ext cx="2980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dirty="0">
                <a:solidFill>
                  <a:srgbClr val="AFC8C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承認して載せるより安全です</a:t>
            </a:r>
            <a:endParaRPr lang="ja-JP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1663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CFE0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さらに踏み込んだ作業（テーマの入れ替え・固定ページの修正・検索対策）は、別冊「応用編」にまとめています。</a:t>
            </a:r>
            <a:endParaRPr lang="ja-JP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ASPATH サイト運用マニュアル 基本編</dc:title>
  <dc:subject>PptxGenJS Presentation</dc:subject>
  <dc:creator>ASPATH</dc:creator>
  <cp:lastModifiedBy>ASPATH</cp:lastModifiedBy>
  <cp:revision>1</cp:revision>
  <dcterms:created xsi:type="dcterms:W3CDTF">2026-09-08T17:44:18Z</dcterms:created>
  <dcterms:modified xsi:type="dcterms:W3CDTF">2026-09-08T17:44:18Z</dcterms:modified>
</cp:coreProperties>
</file>