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レクチャー冒頭。所要60分の想定。コラムの書き方は既に操作いただいているため、本資料では扱いません。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4つの単元を最初に示す。所要は各10〜15分。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ログインは実際にやっていただく。ブックマーク登録までその場で。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5ステップを頭に入れてもらってから、実画面へ。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実際に題名だけ入れてもらう。公開はまだ押さない。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カテゴリーの付け替えは後からでもできる、と補足する。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固定は終わったら外す運用を勧める。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画面の氏名・連絡先はダミーに差し替えて撮影している旨を伝える。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診断名が入るため、画面を人に見せない・印刷を放置しないことを強調。この画面の氏名・連絡先は資料用のダミー。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実際に1枚差し替えてもらい、更新まで通す。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この画面の2件は実際に届いたスパム。次のスライドで詳しく。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実物2件を一緒に見ながら、その場でスパム処理していただく。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キャッシュは一番よくある相談。ここだけは覚えていただく。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最後にこの3つだけ確認して終了。応用編の存在を案内する。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46304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11696"/>
            <a:ext cx="12198096" cy="146304"/>
          </a:xfrm>
          <a:prstGeom prst="rect">
            <a:avLst/>
          </a:prstGeom>
          <a:solidFill>
            <a:srgbClr val="F4A261"/>
          </a:solidFill>
          <a:ln/>
        </p:spPr>
      </p:sp>
      <p:pic>
        <p:nvPicPr>
          <p:cNvPr id="4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2320246" cy="2834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892040" y="1572768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892040" y="199339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サイト運用マニュアル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4892040" y="2962656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92040" y="296265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 本 編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37490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この1冊で、日々の更新はひととおりできるようになります。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892040" y="4736592"/>
            <a:ext cx="1828800" cy="1828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92040" y="486460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519379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動くことを楽しむ。明日につながる。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559612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CA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aspath-life.com　／　2026年9月　ASPATH 様　ご納品資料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この資料で、4つのことができるようになります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00200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600200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休業やキャンペーンを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お客様に知らせる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29000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62272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62272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593592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申込を確認する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593592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初回体験のお申し込みを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見落とさない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91072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24344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24344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55664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写真を差し替える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455664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記事の画像を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新しいものに入れ替える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153144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186416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0186416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17736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9317736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スパムを見分けて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必要なものだけ承認する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18520" cy="960120"/>
          </a:xfrm>
          <a:prstGeom prst="roundRect">
            <a:avLst>
              <a:gd name="adj" fmla="val 11429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4672" y="483717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4672" y="4837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4782312"/>
            <a:ext cx="10104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コラムの書き方は、この資料には入れていません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既に山口様にご操作いただいているためです。手順を見返したいときは『山口様向け_ページの直し方.pdf』をご覧ください。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─ 管理画面の開き方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4173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26465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https://aspath-life.com/wp-admin/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848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D2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このURLをお気に入りに入れておくと便利です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035808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3035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296265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上のURLを開く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ブラウザ（Chrome など）のアドレス欄に入力します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749040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749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69848" y="3675888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ユーザー名とパスワードを入れる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 のアカウントでログインします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6928" y="4462272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4462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69848" y="438912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左側のメニューから作業を選ぶ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使うのは「投稿」「初回体験の申込」「コメント」の3つです</a:t>
            </a:r>
            <a:endParaRPr lang="en-US" sz="1500" dirty="0"/>
          </a:p>
        </p:txBody>
      </p:sp>
      <p:pic>
        <p:nvPicPr>
          <p:cNvPr id="17" name="Image 1" descr="/sessions/compassionate-sweet-heisenberg/mnt/dev-aspath-life-main/_wp移行素材/★引継ぎ資料/レクチャー素材/00_ダッシュボー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17320"/>
            <a:ext cx="5623560" cy="28986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989320" y="1417320"/>
            <a:ext cx="5623560" cy="28986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989320" y="4572000"/>
            <a:ext cx="5623560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27064" y="479145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227064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675120" y="4736592"/>
            <a:ext cx="4709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画面の上のほうに出るお知らせは、無視してかまいません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プラグインの宣伝です。×で閉じても、また出ることがあります。作業には影響しません。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全体の流れ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5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25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新規追加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新規追加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532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2852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11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11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44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944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題名と本文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818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5138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897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97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230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分類する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230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カテゴリー「お知らせ」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104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7424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83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83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516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必要なら固定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516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先頭固定表示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390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31" name="Shape 28"/>
          <p:cNvSpPr/>
          <p:nvPr/>
        </p:nvSpPr>
        <p:spPr>
          <a:xfrm>
            <a:off x="9710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469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469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802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802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公開ボタン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66928" y="365760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4672" y="387705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04672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252728" y="382219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「お知らせ」と「コラム」の違い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お知らせ＝休業・キャンペーンなどの連絡事項。コラム＝パーキンソン病に関する読みもの。分ける場所は同じ「カテゴリー」欄です。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66928" y="489204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04672" y="511149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4672" y="5111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1252728" y="505663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書いている途中で閉じても大丈夫です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「下書き保存」を押しておけば、あとから続きを書けます。公開ボタンを押すまで、お客様には見えません。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題名と本文を書く</a:t>
            </a:r>
            <a:endParaRPr lang="en-US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11_本文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11018520" cy="20025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325880"/>
            <a:ext cx="11018520" cy="20025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466836" y="218782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3466836" y="218782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466836" y="275696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466836" y="2756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10964770" y="178380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0964770" y="178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9288802" y="178380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288802" y="178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692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6692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2412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題名を入れる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「年末年始の休業のお知らせ」など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335584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35584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381304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そのまま打ち込めます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14476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14476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60196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公開する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押した瞬間に載ります</a:t>
            </a:r>
            <a:endParaRPr lang="en-US" sz="1450" dirty="0"/>
          </a:p>
        </p:txBody>
      </p:sp>
      <p:sp>
        <p:nvSpPr>
          <p:cNvPr id="26" name="Shape 22"/>
          <p:cNvSpPr/>
          <p:nvPr/>
        </p:nvSpPr>
        <p:spPr>
          <a:xfrm>
            <a:off x="893368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93368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939088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下書き保存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まだ載せたくないとき</a:t>
            </a:r>
            <a:endParaRPr lang="en-US" sz="1450" dirty="0"/>
          </a:p>
        </p:txBody>
      </p:sp>
      <p:sp>
        <p:nvSpPr>
          <p:cNvPr id="29" name="Shape 25"/>
          <p:cNvSpPr/>
          <p:nvPr/>
        </p:nvSpPr>
        <p:spPr>
          <a:xfrm>
            <a:off x="566928" y="4709160"/>
            <a:ext cx="11018520" cy="9144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" y="492861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04672" y="492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1252728" y="4873752"/>
            <a:ext cx="10104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改行は Enter で問題ありません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Shift＋Enter は使わないでください。行間が崩れることがあります。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「お知らせ」に分類する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298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右上の四角いアイコンを押して、設定パネルを開く</a:t>
            </a:r>
            <a:endParaRPr lang="en-US" sz="1500" dirty="0"/>
          </a:p>
        </p:txBody>
      </p:sp>
      <p:pic>
        <p:nvPicPr>
          <p:cNvPr id="8" name="Image 1" descr="/sessions/compassionate-sweet-heisenberg/mnt/dev-aspath-life-main/_wp移行素材/★引継ぎ資料/レクチャー素材/crop/12a_設定アイコン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5120640" cy="23774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737360"/>
            <a:ext cx="51206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386584" y="3435096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386584" y="3435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42245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カテゴリーの「お知らせ」にチェックを入れる</a:t>
            </a:r>
            <a:endParaRPr lang="en-US" sz="1500" dirty="0"/>
          </a:p>
        </p:txBody>
      </p:sp>
      <p:pic>
        <p:nvPicPr>
          <p:cNvPr id="13" name="Image 2" descr="/sessions/compassionate-sweet-heisenberg/mnt/dev-aspath-life-main/_wp移行素材/★引継ぎ資料/レクチャー素材/crop/12b_カテゴリ欄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663440"/>
            <a:ext cx="4206240" cy="21031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66928" y="4663440"/>
            <a:ext cx="4206240" cy="21031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295144" y="5367528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2295144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263640" y="1737360"/>
            <a:ext cx="5321808" cy="1371600"/>
          </a:xfrm>
          <a:prstGeom prst="roundRect">
            <a:avLst>
              <a:gd name="adj" fmla="val 8000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1384" y="19568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501384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949440" y="1901952"/>
            <a:ext cx="44074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「コラム」のチェックは外してください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両方に入っていると、コラム一覧にも休業のお知らせが並びます。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263640" y="3291840"/>
            <a:ext cx="5321808" cy="1600200"/>
          </a:xfrm>
          <a:prstGeom prst="roundRect">
            <a:avLst>
              <a:gd name="adj" fmla="val 6857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501384" y="351129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501384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949440" y="3456432"/>
            <a:ext cx="4407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ここを間違えると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読みものを探しに来た方が、休業のお知らせに行き当たって戸惑います。あとから直せますので、慌てなくて大丈夫です。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大事なお知らせを先頭に固定する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298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右側の「ステータス」の文字を押す</a:t>
            </a:r>
            <a:endParaRPr lang="en-US" sz="1500" dirty="0"/>
          </a:p>
        </p:txBody>
      </p:sp>
      <p:pic>
        <p:nvPicPr>
          <p:cNvPr id="8" name="Image 1" descr="/sessions/compassionate-sweet-heisenberg/mnt/dev-aspath-life-main/_wp移行素材/★引継ぎ資料/レクチャー素材/crop/13a_ステータス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4937760" cy="8595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737360"/>
            <a:ext cx="4937760" cy="8595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625671" y="197510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4625671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開いた窓で「先頭固定表示」にチェック</a:t>
            </a:r>
            <a:endParaRPr lang="en-US" sz="1500" dirty="0"/>
          </a:p>
        </p:txBody>
      </p:sp>
      <p:pic>
        <p:nvPicPr>
          <p:cNvPr id="13" name="Image 2" descr="/sessions/compassionate-sweet-heisenberg/mnt/dev-aspath-life-main/_wp移行素材/★引継ぎ資料/レクチャー素材/crop/13b_固定ポ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218688"/>
            <a:ext cx="2697480" cy="369417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66928" y="3218688"/>
            <a:ext cx="2697480" cy="36941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338802" y="6281533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3338802" y="628153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263640" y="1737360"/>
            <a:ext cx="53218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1384" y="19568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501384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949440" y="1901952"/>
            <a:ext cx="4407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使いどころ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休業のお知らせ、キャンペーンなど「今いちばん見てほしいもの」だけに使ってください。何件も固定すると、どれが大事か分からなくなります。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263640" y="3657600"/>
            <a:ext cx="5321808" cy="1737360"/>
          </a:xfrm>
          <a:prstGeom prst="roundRect">
            <a:avLst>
              <a:gd name="adj" fmla="val 6316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501384" y="38770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501384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949440" y="3822192"/>
            <a:ext cx="4407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終わったら外してください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期間が過ぎたお知らせが先頭に残っていると、情報が古いサイトに見えてしまいます。同じ手順でチェックを外すだけです。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 ─ 一覧を開く</a:t>
            </a:r>
            <a:endParaRPr lang="en-US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21_一覧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11018520" cy="203911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325880"/>
            <a:ext cx="11018520" cy="203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6531" y="2909290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96531" y="29092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412768" y="2258883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412768" y="22588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6692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42416" y="3566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左メニュー「初回体験の申込」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お申し込みはすべてここに入ります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14476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14476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620256" y="3566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お名前の部分を押す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申込の中身が開きます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566928" y="4572000"/>
            <a:ext cx="11018520" cy="1234440"/>
          </a:xfrm>
          <a:prstGeom prst="roundRect">
            <a:avLst>
              <a:gd name="adj" fmla="val 8889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04672" y="47914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04672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1252728" y="4736592"/>
            <a:ext cx="101041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毎日1回は開いてください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メールが迷惑メールフォルダに入ってしまっても、お申し込みはこの画面に必ず残ります。ここが最後の砦です。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 ─ 中身を確認する</a:t>
            </a:r>
            <a:endParaRPr lang="en-US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22_中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680960" cy="262432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298448"/>
            <a:ext cx="7680960" cy="26243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95360" y="1298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1画面で分かること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95360" y="173736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お名前・フリガナ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生年月日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メールアドレス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お電話番号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ご住所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どなたのご相談か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医師からの診断名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困っていること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ASPATHを知ったきっかけ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7680960" cy="960120"/>
          </a:xfrm>
          <a:prstGeom prst="roundRect">
            <a:avLst>
              <a:gd name="adj" fmla="val 11429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4672" y="437997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04672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252728" y="4325112"/>
            <a:ext cx="67665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この画面は編集しないでください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お客様が送ってくださった内容の控えです。書き換えると、あとで確認できなくなります。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66928" y="5257800"/>
            <a:ext cx="11018520" cy="9144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" y="54772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04672" y="5477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1252728" y="5422392"/>
            <a:ext cx="10104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診断名などの大切な情報が入っています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画面を開いたまま席を離れない、印刷物を放置しない。ご本人以外の目に触れないよう、取り扱いにご注意ください。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写真を差し替える</a:t>
            </a:r>
            <a:endParaRPr lang="en-US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31_置換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680960" cy="513892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298448"/>
            <a:ext cx="7680960" cy="51389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548384" y="4624777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1548384" y="4624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959352" y="1330319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959352" y="133031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595360" y="131673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595360" y="1316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9098280" y="12435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写真を1回押す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青い枠が付いて、上に道具が並びます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595360" y="213969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595360" y="2139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9098280" y="206654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「置換」を押す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新しい写真を選ぶ画面が開きます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8595360" y="296265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59536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098280" y="288950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写真を選ぶ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パソコンから選ぶか、すでに入っているものから選びます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8595360" y="378561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8595360" y="3785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9098280" y="371246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「更新」を押す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右上のボタンです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595360" y="4617720"/>
            <a:ext cx="3108960" cy="1536192"/>
          </a:xfrm>
          <a:prstGeom prst="roundRect">
            <a:avLst>
              <a:gd name="adj" fmla="val 7143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833104" y="483717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833104" y="4837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81160" y="4782312"/>
            <a:ext cx="21945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元の写真は消えません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差し替えても前の写真はメディアに残ります。戻したくなったら同じ手順で選び直せます。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 ─ 承認待ちを見る</a:t>
            </a:r>
            <a:endParaRPr lang="en-US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41_コメント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11018520" cy="2423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325880"/>
            <a:ext cx="11018520" cy="2423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464107" y="2721201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1464107" y="27212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450632" y="153420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450632" y="1534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856056" y="2686083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856056" y="26860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6692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042416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左メニュー「コメント」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数字は承認待ちの件数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4288536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288536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764024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「承認待ち」を押す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対応が必要なものだけ出ます</a:t>
            </a:r>
            <a:endParaRPr lang="en-US" sz="1450" dirty="0"/>
          </a:p>
        </p:txBody>
      </p:sp>
      <p:sp>
        <p:nvSpPr>
          <p:cNvPr id="21" name="Shape 17"/>
          <p:cNvSpPr/>
          <p:nvPr/>
        </p:nvSpPr>
        <p:spPr>
          <a:xfrm>
            <a:off x="8010144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01014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485632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中身を読む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承認かスパムかを決めます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66928" y="493776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04672" y="51572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04672" y="5157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252728" y="510235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承認するまで、お客様には見えません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放置しても表示はされません。慌てなくて大丈夫です。上の2件は、実際に届いたスパムです。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 ─ スパムの見分け方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170432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いま届いている2件は、両方ともスパムでした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16916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0756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1874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英語で書かれている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日本語のサイトに英語のコメントは、ほぼ宣伝です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236208" y="16916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20756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9224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874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知らないサイトへのリンク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カジノ・投資などのURLが本文や名前に入っています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66928" y="30632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" y="34472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22960" y="3447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3246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記事と関係がない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体幹の記事に「ルーレット戦略」など、話が噛み合いません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236208" y="30632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92240" y="34472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92240" y="3447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3246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妙に褒めてくる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中身のない称賛だけで、具体的な感想がありません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566928" y="4572000"/>
            <a:ext cx="11018520" cy="1463040"/>
          </a:xfrm>
          <a:prstGeom prst="roundRect">
            <a:avLst>
              <a:gd name="adj" fmla="val 7500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47914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04672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52728" y="4736592"/>
            <a:ext cx="10104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迷ったら「スパム」を選んでください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承認すると、パーキンソン病専門サイトにカジノへのリンクが載ってしまいます。間違えて本物をスパムにしても、あとから戻せます。承認して載せてしまうより安全です。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困ったときは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325880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453896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直したのに画面が変わらない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左メニュー「Super Page Cache」→ 赤い「Purge Cache」を押してから、画面を再読み込みしてください。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496312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62432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間違えて公開してしまった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その記事を開き、「ステータス」から「下書き」に戻せば、お客様には見えなくなります。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666744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37947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消してしまった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「ゴミ箱」に残っています。ゴミ箱を開いて「復元」を押してください。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6928" y="4837176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4965192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パスワードが分からない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ログイン画面の「パスワードをお忘れですか？」から再設定できます。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覚えていただきたいのは、3つだけです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4" name="Shape 2"/>
          <p:cNvSpPr/>
          <p:nvPr/>
        </p:nvSpPr>
        <p:spPr>
          <a:xfrm>
            <a:off x="219456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9456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公開を押すまで、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お客様には見えない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安心して書きかけで保存してください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9" name="Shape 7"/>
          <p:cNvSpPr/>
          <p:nvPr/>
        </p:nvSpPr>
        <p:spPr>
          <a:xfrm>
            <a:off x="589788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変わらないときは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キャッシュを消す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2744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→ Purge Cache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迷ったらスパムへ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承認して載せるより安全です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66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さらに踏み込んだ作業（テーマの入れ替え・固定ページの修正・検索対策）は、別冊「応用編」にまとめています。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ASPATH サイト運用マニュアル 基本編</dc:title>
  <dc:subject>PptxGenJS Presentation</dc:subject>
  <dc:creator>ASPATH</dc:creator>
  <cp:lastModifiedBy>ASPATH</cp:lastModifiedBy>
  <cp:revision>1</cp:revision>
  <dcterms:created xsi:type="dcterms:W3CDTF">2026-09-06T18:22:06Z</dcterms:created>
  <dcterms:modified xsi:type="dcterms:W3CDTF">2026-09-06T18:22:06Z</dcterms:modified>
</cp:coreProperties>
</file>