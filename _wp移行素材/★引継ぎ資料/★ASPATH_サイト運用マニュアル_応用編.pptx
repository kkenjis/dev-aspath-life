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基本編を終えた方向け。1回で全部やらず、必要になった章だけ開く使い方でよい。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応用編は通読しなくてよい、という前提を最初に伝える。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ここは「やらないこと」を先に伝える章。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この4つは暗記でなく、資料の場所を覚えてもらえばよい。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バックアップは「保険」。取り方だけ一度やってもらう。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有効化を押しても壊れないが、押す必要がないことを伝える。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道Bの全体像。詳細はサイト更新マニュアル側にある。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キャッシュはいちばん多い相談。3層あることを図で理解してもらう。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すぐ効くものではないが、続けると差が出る章。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実際に1ページ書き換えてもらう。C章のプロンプトと繋げる。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反映の遅さは必ず相談になる。切り分け方を渡しておく。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3指標だけ。権限付与が済んでいない場合は先にそれ。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実際に届いた2件はカジノ系スパム。標的はサンプル記事だった。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再発時に原因を思い出せるように。全て対応済みである点を強調。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応用編からAI章を分離した。別冊を渡していることを必ず伝える。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最後に、いつでも聞いてよいことを伝えて終了。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9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146304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1696"/>
            <a:ext cx="12198096" cy="146304"/>
          </a:xfrm>
          <a:prstGeom prst="rect">
            <a:avLst/>
          </a:prstGeom>
          <a:solidFill>
            <a:srgbClr val="F4A261"/>
          </a:solidFill>
          <a:ln/>
        </p:spPr>
      </p:sp>
      <p:pic>
        <p:nvPicPr>
          <p:cNvPr id="4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874520"/>
            <a:ext cx="2320246" cy="2834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892040" y="1572768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892040" y="1993392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サイト運用マニュアル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4892040" y="2962656"/>
            <a:ext cx="1920240" cy="54864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892040" y="296265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 用 編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892040" y="374904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壊さない触り方と、やっておいて損はないこと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892040" y="4736592"/>
            <a:ext cx="1828800" cy="1828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92040" y="486460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892040" y="519379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動くことを楽しむ。明日につながる。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559612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C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aspath-life.com　／　2026年9月　ASPATH 様　ご納品資料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92608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この資料の使い方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上から順に読む必要はありません。必要になった章だけ開いてください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4360" y="1554480"/>
            <a:ext cx="3429000" cy="3200400"/>
          </a:xfrm>
          <a:prstGeom prst="roundRect">
            <a:avLst>
              <a:gd name="adj" fmla="val 4000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65960" y="1874520"/>
            <a:ext cx="685800" cy="685800"/>
          </a:xfrm>
          <a:prstGeom prst="roundRect">
            <a:avLst>
              <a:gd name="adj" fmla="val 50667"/>
            </a:avLst>
          </a:prstGeom>
          <a:solidFill>
            <a:srgbClr val="B4453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96596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788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触ると壊れる領域</a:t>
            </a:r>
            <a:endParaRPr lang="en-US" sz="165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31012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テーマの入れ替え、固定ページの修正、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バックアップ。事故を防ぐための章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297680" y="1554480"/>
            <a:ext cx="3429000" cy="3200400"/>
          </a:xfrm>
          <a:prstGeom prst="roundRect">
            <a:avLst>
              <a:gd name="adj" fmla="val 4000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69280" y="1874520"/>
            <a:ext cx="685800" cy="685800"/>
          </a:xfrm>
          <a:prstGeom prst="roundRect">
            <a:avLst>
              <a:gd name="adj" fmla="val 50667"/>
            </a:avLst>
          </a:prstGeom>
          <a:solidFill>
            <a:srgbClr val="2E7D3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66928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788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やっておいて損はないこと</a:t>
            </a:r>
            <a:endParaRPr lang="en-US" sz="16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331012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検索対策、数字の見方、スパム対策。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じわじわ効く章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001000" y="1554480"/>
            <a:ext cx="3429000" cy="3200400"/>
          </a:xfrm>
          <a:prstGeom prst="roundRect">
            <a:avLst>
              <a:gd name="adj" fmla="val 4000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372600" y="1874520"/>
            <a:ext cx="685800" cy="685800"/>
          </a:xfrm>
          <a:prstGeom prst="roundRect">
            <a:avLst>
              <a:gd name="adj" fmla="val 50667"/>
            </a:avLst>
          </a:prstGeom>
          <a:solidFill>
            <a:srgbClr val="DD823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37260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</a:t>
            </a:r>
            <a:endParaRPr lang="en-US" sz="280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2788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AIを使いこなす</a:t>
            </a:r>
            <a:endParaRPr lang="en-US" sz="1650" dirty="0"/>
          </a:p>
        </p:txBody>
      </p:sp>
      <p:sp>
        <p:nvSpPr>
          <p:cNvPr id="21" name="Text 18"/>
          <p:cNvSpPr txBox="1"/>
          <p:nvPr/>
        </p:nvSpPr>
        <p:spPr>
          <a:xfrm>
            <a:off x="8183880" y="331012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別冊「AI活用編」に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まとめています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94360" y="4983480"/>
            <a:ext cx="10927080" cy="1051560"/>
          </a:xfrm>
          <a:prstGeom prst="roundRect">
            <a:avLst>
              <a:gd name="adj" fmla="val 10435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13816" y="518464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13816" y="5184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252728" y="5129784"/>
            <a:ext cx="10049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困ったら、まず基本編を見てください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日々の更新（お知らせ・申込確認・写真差し替え・コメント）は、すべて基本編に入っています。この資料はその先の話です。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87452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19202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触ると壊れる領域と、その安全な触り方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3063240"/>
            <a:ext cx="8961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絶対に変えてはいけないもの（これだけは覚えてください）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作業前のバックアップ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テーマの入れ替え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固定ページの文章を直す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変更が画面に出ないとき（キャッシュ）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Shape 1"/>
          <p:cNvSpPr/>
          <p:nvPr/>
        </p:nvSpPr>
        <p:spPr>
          <a:xfrm>
            <a:off x="548640" y="329184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329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207008" y="292608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絶対に変えてはいけないもの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1225296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この4つだけは、触らないでください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94360" y="1463040"/>
            <a:ext cx="10927080" cy="1005840"/>
          </a:xfrm>
          <a:prstGeom prst="roundRect">
            <a:avLst>
              <a:gd name="adj" fmla="val 9091"/>
            </a:avLst>
          </a:prstGeom>
          <a:solidFill>
            <a:srgbClr val="FBEDEC"/>
          </a:solidFill>
          <a:ln w="12700">
            <a:solidFill>
              <a:srgbClr val="B4453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4672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45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298448" y="15727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初回体験フォームのURL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298448" y="19202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45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aspath-life.com/taiken-2026as9y/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760720" y="1609344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変えるとお申し込みが届かなくなります。過去にご案内したURLも切れます。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94360" y="2578608"/>
            <a:ext cx="10927080" cy="1005840"/>
          </a:xfrm>
          <a:prstGeom prst="roundRect">
            <a:avLst>
              <a:gd name="adj" fmla="val 9091"/>
            </a:avLst>
          </a:prstGeom>
          <a:solidFill>
            <a:srgbClr val="FBEDEC"/>
          </a:solidFill>
          <a:ln w="12700">
            <a:solidFill>
              <a:srgbClr val="B4453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4672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45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1298448" y="268833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アナリティクスの測定ID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298448" y="30358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45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G-17MTFN7SQ4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760720" y="2724912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変えると、これまで貯めた訪問者データと繋がらなくなります。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94360" y="3694176"/>
            <a:ext cx="10927080" cy="1005840"/>
          </a:xfrm>
          <a:prstGeom prst="roundRect">
            <a:avLst>
              <a:gd name="adj" fmla="val 9091"/>
            </a:avLst>
          </a:prstGeom>
          <a:solidFill>
            <a:srgbClr val="FBEDEC"/>
          </a:solidFill>
          <a:ln w="12700">
            <a:solidFill>
              <a:srgbClr val="B4453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04672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45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1298448" y="380390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表示設定の割り当て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298448" y="41513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45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ホームページ＝HOME ／ 投稿ページ＝コラム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760720" y="3840480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入れ替えると、トップページが記事一覧になってしまいます。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94360" y="4809744"/>
            <a:ext cx="10927080" cy="1005840"/>
          </a:xfrm>
          <a:prstGeom prst="roundRect">
            <a:avLst>
              <a:gd name="adj" fmla="val 9091"/>
            </a:avLst>
          </a:prstGeom>
          <a:solidFill>
            <a:srgbClr val="FBEDEC"/>
          </a:solidFill>
          <a:ln w="12700">
            <a:solidFill>
              <a:srgbClr val="B4453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04672" y="5102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45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1298448" y="49194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公開中ページのスラッグ（URLの文字）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1298448" y="526694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45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/about/ ／ /services/ など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5760720" y="4956048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変えると、その日から検索順位がゼロに戻ります。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94360" y="5961888"/>
            <a:ext cx="10927080" cy="749808"/>
          </a:xfrm>
          <a:prstGeom prst="roundRect">
            <a:avLst>
              <a:gd name="adj" fmla="val 14634"/>
            </a:avLst>
          </a:prstGeom>
          <a:solidFill>
            <a:srgbClr val="FBEDEC"/>
          </a:solidFill>
          <a:ln w="15240">
            <a:solidFill>
              <a:srgbClr val="B4453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13816" y="6163056"/>
            <a:ext cx="310896" cy="310896"/>
          </a:xfrm>
          <a:prstGeom prst="ellipse">
            <a:avLst/>
          </a:prstGeom>
          <a:solidFill>
            <a:srgbClr val="B4453C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13816" y="6163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1252728" y="6108192"/>
            <a:ext cx="10049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迷ったら、変えないでください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元に戻せないものが、この4つです。ほかのことは、ほぼ元に戻せます。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Shape 1"/>
          <p:cNvSpPr/>
          <p:nvPr/>
        </p:nvSpPr>
        <p:spPr>
          <a:xfrm>
            <a:off x="548640" y="329184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329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207008" y="292608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作業前にバックアップを取る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1225296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5分で終わります。これをやれば、失敗しても戻せます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94360" y="1572768"/>
            <a:ext cx="329184" cy="329184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" y="1572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1508760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左メニュー「All-in-One WP Migration」→ エクスポート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94360" y="2322576"/>
            <a:ext cx="329184" cy="329184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4360" y="2322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1051560" y="2258568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「エクスポート先」→「ファイル」を選ぶ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しばらく待つと、ダウンロードのボタンが出ます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94360" y="3072384"/>
            <a:ext cx="329184" cy="329184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9436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1051560" y="3008376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ボタンを押して、パソコンに保存する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ファイル名に日付が入ります。そのままで結構です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94360" y="3822192"/>
            <a:ext cx="329184" cy="329184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94360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051560" y="3758184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保存できたら、作業を始める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94360" y="4754880"/>
            <a:ext cx="5669280" cy="1371600"/>
          </a:xfrm>
          <a:prstGeom prst="roundRect">
            <a:avLst>
              <a:gd name="adj" fmla="val 8000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13816" y="495604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13816" y="4956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252728" y="4901184"/>
            <a:ext cx="4791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どんなときに取るか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テーマの入れ替え前／プラグインを更新する前／固定ページを直す前。記事を書くだけなら不要です。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583680" y="1554480"/>
            <a:ext cx="4937760" cy="2103120"/>
          </a:xfrm>
          <a:prstGeom prst="roundRect">
            <a:avLst>
              <a:gd name="adj" fmla="val 5217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803136" y="175564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803136" y="1755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242048" y="1700784"/>
            <a:ext cx="40599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戻し方（万一のとき）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同じ画面の「インポート」から、保存したファイルを選ぶだけです。ただし戻すとその後の変更も消えるため、実行前にご連絡ください。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583680" y="3840480"/>
            <a:ext cx="4937760" cy="2286000"/>
          </a:xfrm>
          <a:prstGeom prst="roundRect">
            <a:avLst>
              <a:gd name="adj" fmla="val 4800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803136" y="4041648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803136" y="4041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7242048" y="3986784"/>
            <a:ext cx="40599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月1回でも取っておくと安心です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サーバー側の自動バックアップもありますが、期間に限りがあります。手元にファイルが1つあると、いざというとき確実です。保存先はパソコンでもクラウドでも構いません。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Shape 1"/>
          <p:cNvSpPr/>
          <p:nvPr/>
        </p:nvSpPr>
        <p:spPr>
          <a:xfrm>
            <a:off x="548640" y="329184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329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207008" y="292608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テーマを入れ替える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1225296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サイトの見た目や固定ページを直したときの反映作業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050" dirty="0"/>
          </a:p>
        </p:txBody>
      </p:sp>
      <p:pic>
        <p:nvPicPr>
          <p:cNvPr id="9" name="Image 1" descr="/sessions/compassionate-sweet-heisenberg/mnt/dev-aspath-life-main/_wp移行素材/★引継ぎ資料/画像/05_テーマのアップロード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63040"/>
            <a:ext cx="6675120" cy="325241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94360" y="1463040"/>
            <a:ext cx="6675120" cy="325241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0" y="1527048"/>
            <a:ext cx="329184" cy="329184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498080" y="1527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7955280" y="146304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外観 → テーマ → 新規追加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498080" y="2185416"/>
            <a:ext cx="329184" cy="329184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498080" y="2185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7955280" y="2121408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「テーマのアップロード」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aspath-theme.zip を選びます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7498080" y="2843784"/>
            <a:ext cx="329184" cy="329184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49808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7955280" y="2779776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「既存のものを置き換える」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上書きの確認が出ます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7498080" y="3502152"/>
            <a:ext cx="329184" cy="329184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0" y="3502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7955280" y="3438144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「テーマを有効化」は押さない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すでに有効なので不要です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7498080" y="4160520"/>
            <a:ext cx="329184" cy="329184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498080" y="4160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50" dirty="0"/>
          </a:p>
        </p:txBody>
      </p:sp>
      <p:sp>
        <p:nvSpPr>
          <p:cNvPr id="25" name="Text 21"/>
          <p:cNvSpPr txBox="1"/>
          <p:nvPr/>
        </p:nvSpPr>
        <p:spPr>
          <a:xfrm>
            <a:off x="7955280" y="4096512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キャッシュを消す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次のページで説明します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594360" y="5120640"/>
            <a:ext cx="10972800" cy="1005840"/>
          </a:xfrm>
          <a:prstGeom prst="roundRect">
            <a:avLst>
              <a:gd name="adj" fmla="val 10909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13816" y="532180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813816" y="5321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1252728" y="5266944"/>
            <a:ext cx="10094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ZIPファイルは、幸喜がお渡ししたものだけを使ってください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「テーマを作る.ps1」で生成された aspath-theme.zip です。古いZIPを上げると、直したはずの内容が巻き戻ります。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Shape 1"/>
          <p:cNvSpPr/>
          <p:nvPr/>
        </p:nvSpPr>
        <p:spPr>
          <a:xfrm>
            <a:off x="548640" y="329184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329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207008" y="292608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固定ページの文章を直す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1225296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管理画面からは直せません。パソコンでの作業になります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94360" y="1554480"/>
            <a:ext cx="1627632" cy="1371600"/>
          </a:xfrm>
          <a:prstGeom prst="roundRect">
            <a:avLst>
              <a:gd name="adj" fmla="val 6667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16916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667512" y="210312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Pull origin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67512" y="245059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Desktop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478024" y="1554480"/>
            <a:ext cx="1627632" cy="1371600"/>
          </a:xfrm>
          <a:prstGeom prst="roundRect">
            <a:avLst>
              <a:gd name="adj" fmla="val 6667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569464" y="16916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2551176" y="210312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HTMLを直す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2551176" y="245059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about.html など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361688" y="1554480"/>
            <a:ext cx="1627632" cy="1371600"/>
          </a:xfrm>
          <a:prstGeom prst="roundRect">
            <a:avLst>
              <a:gd name="adj" fmla="val 6667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453128" y="16916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4434840" y="210312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テーマを作る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4434840" y="245059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.ps1 を実行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245352" y="1554480"/>
            <a:ext cx="1627632" cy="1371600"/>
          </a:xfrm>
          <a:prstGeom prst="roundRect">
            <a:avLst>
              <a:gd name="adj" fmla="val 6667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336792" y="16916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6318504" y="210312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ZIPを上げる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6318504" y="245059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外観 → テーマ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8129016" y="1554480"/>
            <a:ext cx="1627632" cy="1371600"/>
          </a:xfrm>
          <a:prstGeom prst="roundRect">
            <a:avLst>
              <a:gd name="adj" fmla="val 6667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20456" y="16916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</a:t>
            </a:r>
            <a:endParaRPr lang="en-US" sz="1900" dirty="0"/>
          </a:p>
        </p:txBody>
      </p:sp>
      <p:sp>
        <p:nvSpPr>
          <p:cNvPr id="27" name="Text 24"/>
          <p:cNvSpPr txBox="1"/>
          <p:nvPr/>
        </p:nvSpPr>
        <p:spPr>
          <a:xfrm>
            <a:off x="8202168" y="210312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キャッシュ消す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8202168" y="245059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Purge Cache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10012680" y="1554480"/>
            <a:ext cx="1627632" cy="1371600"/>
          </a:xfrm>
          <a:prstGeom prst="roundRect">
            <a:avLst>
              <a:gd name="adj" fmla="val 6667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104120" y="16916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⑥</a:t>
            </a:r>
            <a:endParaRPr lang="en-US" sz="1900" dirty="0"/>
          </a:p>
        </p:txBody>
      </p:sp>
      <p:sp>
        <p:nvSpPr>
          <p:cNvPr id="31" name="Text 28"/>
          <p:cNvSpPr txBox="1"/>
          <p:nvPr/>
        </p:nvSpPr>
        <p:spPr>
          <a:xfrm>
            <a:off x="10085832" y="210312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Push origin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10085832" y="245059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Desktop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94360" y="32004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13816" y="340156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813816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1252728" y="3346704"/>
            <a:ext cx="45171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①のPullを忘れると、あとで衝突します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他の人が先に直していると、同じ場所を書き換えてしまいます。作業前に必ずPullしてください。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6144768" y="32004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364224" y="340156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6364224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6803136" y="3346704"/>
            <a:ext cx="45171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文章が検索で見つからないとき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HTMLの中では途中にタグが挟まっています。文章全部ではなく、10〜15文字だけで検索してください。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594360" y="4892040"/>
            <a:ext cx="10927080" cy="1234440"/>
          </a:xfrm>
          <a:prstGeom prst="roundRect">
            <a:avLst>
              <a:gd name="adj" fmla="val 8889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13816" y="5093208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813816" y="5093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1252728" y="5038344"/>
            <a:ext cx="100492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「ASPATHについて」だけは、管理画面から直せます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このページだけ本文をWordPress側に移してあります。手順は別冊『★山口様向け_ASPATHについて_文章の直し方』をご覧ください。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Shape 1"/>
          <p:cNvSpPr/>
          <p:nvPr/>
        </p:nvSpPr>
        <p:spPr>
          <a:xfrm>
            <a:off x="548640" y="329184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329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207008" y="292608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直したのに変わらないとき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1225296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原因はほぼキャッシュです。3か所を順に消してください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94360" y="155448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240">
            <a:solidFill>
              <a:srgbClr val="DCE6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011680" y="1783080"/>
            <a:ext cx="594360" cy="594360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011680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2514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サイトのキャッシュ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29260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Super Page Cache →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【Purge Cache】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37673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いちばん多い原因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297680" y="155448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240">
            <a:solidFill>
              <a:srgbClr val="DCE6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15000" y="1783080"/>
            <a:ext cx="594360" cy="594360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715000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4434840" y="2514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ブラウザのキャッシュ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4434840" y="29260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Ctrl を押しながら F5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434840" y="37673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自分だけ古い場合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001000" y="155448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240">
            <a:solidFill>
              <a:srgbClr val="DCE6E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418320" y="1783080"/>
            <a:ext cx="594360" cy="594360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418320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8138160" y="2514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画像のキャッシュ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8138160" y="29260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1年間キャッシュされます。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差し替えは幸喜が対応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8138160" y="37673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画像だけ古い場合</a:t>
            </a:r>
            <a:endParaRPr lang="en-US" sz="1100" dirty="0"/>
          </a:p>
        </p:txBody>
      </p:sp>
      <p:pic>
        <p:nvPicPr>
          <p:cNvPr id="27" name="Image 1" descr="/sessions/compassionate-sweet-heisenberg/mnt/dev-aspath-life-main/_wp移行素材/★引継ぎ資料/画像/06_キャッシュ削除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343400"/>
            <a:ext cx="4572000" cy="2227684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594360" y="4343400"/>
            <a:ext cx="4572000" cy="222768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440680" y="4343400"/>
            <a:ext cx="6099048" cy="1051560"/>
          </a:xfrm>
          <a:prstGeom prst="roundRect">
            <a:avLst>
              <a:gd name="adj" fmla="val 10435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660136" y="454456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5660136" y="4544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6099048" y="4489704"/>
            <a:ext cx="5221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5分待ってから、もう一度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消した直後は、まだ古い画面が出ることがあります。5分ほど置いて開き直してください。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5440680" y="5522976"/>
            <a:ext cx="6099048" cy="1051560"/>
          </a:xfrm>
          <a:prstGeom prst="roundRect">
            <a:avLst>
              <a:gd name="adj" fmla="val 10435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5660136" y="5724144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5660136" y="5724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36" name="Text 32"/>
          <p:cNvSpPr txBox="1"/>
          <p:nvPr/>
        </p:nvSpPr>
        <p:spPr>
          <a:xfrm>
            <a:off x="6099048" y="5669280"/>
            <a:ext cx="5221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それでも変わらなければ、ご連絡ください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キャッシュ以外の原因のことがあります。無理に触らず、そのままお伝えください。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87452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19202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やっておいて損はないこと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3063240"/>
            <a:ext cx="8961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検索結果に出る説明文を、自分で直す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Search Console で「見に来たか」を確かめる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アナリティクスで見る数字は3つだけ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コメントスパムへの備え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今回の案件で実際に起きた不具合と、その予防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Shape 1"/>
          <p:cNvSpPr/>
          <p:nvPr/>
        </p:nvSpPr>
        <p:spPr>
          <a:xfrm>
            <a:off x="548640" y="329184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329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207008" y="292608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検索結果に出る説明文を、自分で直す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1225296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SureRank というプラグインで、ページごとに設定できます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94360" y="1572768"/>
            <a:ext cx="329184" cy="329184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" y="1572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1508760"/>
            <a:ext cx="5029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直したいページの編集画面を開く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94360" y="2249424"/>
            <a:ext cx="329184" cy="329184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4360" y="2249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1051560" y="2185416"/>
            <a:ext cx="5029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上のツールバーの「SureRank」を押す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右側にパネルが開きます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94360" y="2926080"/>
            <a:ext cx="329184" cy="329184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94360" y="2926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1051560" y="2862072"/>
            <a:ext cx="5029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Search Engine Description を書き換える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文字数が右上に出ます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94360" y="3602736"/>
            <a:ext cx="329184" cy="329184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94360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051560" y="3538728"/>
            <a:ext cx="5029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パネル下の「Save」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「Data updated」と出れば成功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94360" y="4279392"/>
            <a:ext cx="329184" cy="329184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94360" y="4279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4215384"/>
            <a:ext cx="5029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キャッシュを消す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Purge Cache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6263640" y="1554480"/>
            <a:ext cx="5276088" cy="2148840"/>
          </a:xfrm>
          <a:prstGeom prst="roundRect">
            <a:avLst>
              <a:gd name="adj" fmla="val 5106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483096" y="1755648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483096" y="1755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922008" y="1700784"/>
            <a:ext cx="439826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書くときのコツ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全角60〜160字。頭の30字で内容が分かるように。「鹿児島」「パーキンソン病」を入れる。記号の多用は避ける。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263640" y="3886200"/>
            <a:ext cx="5276088" cy="2240280"/>
          </a:xfrm>
          <a:prstGeom prst="roundRect">
            <a:avLst>
              <a:gd name="adj" fmla="val 4898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83096" y="408736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483096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922008" y="4032504"/>
            <a:ext cx="439826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短すぎると、勝手に決められます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説明文が空だと、Googleが本文の冒頭を拾って表示します。かつて『「遠くて通えない…」』の10文字だけが出ていたページがありました。自分で書けば、そうなりません。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594360" y="5120640"/>
            <a:ext cx="5486400" cy="1005840"/>
          </a:xfrm>
          <a:prstGeom prst="roundRect">
            <a:avLst>
              <a:gd name="adj" fmla="val 10909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13816" y="532180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13816" y="5321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1252728" y="5266944"/>
            <a:ext cx="4608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AIに書かせるのがいちばん早いです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C章に、そのまま貼って使えるプロンプトを載せています。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Shape 1"/>
          <p:cNvSpPr/>
          <p:nvPr/>
        </p:nvSpPr>
        <p:spPr>
          <a:xfrm>
            <a:off x="548640" y="329184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329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207008" y="292608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Search Console で「見に来たか」を確かめる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1225296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反映されないとき、原因がこちら側かGoogle側かを切り分けられます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94360" y="1572768"/>
            <a:ext cx="329184" cy="329184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" y="1572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1508760"/>
            <a:ext cx="5029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search.google.com/search-console を開く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94360" y="2249424"/>
            <a:ext cx="329184" cy="329184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4360" y="2249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1051560" y="2185416"/>
            <a:ext cx="5029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上の窓にURLを入れてEnter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「URL検査」になります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94360" y="2926080"/>
            <a:ext cx="329184" cy="329184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94360" y="2926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1051560" y="2862072"/>
            <a:ext cx="5029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「前回のクロール」の日時を見る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ここが最重要です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94360" y="3602736"/>
            <a:ext cx="329184" cy="329184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94360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051560" y="3538728"/>
            <a:ext cx="5029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「公開URLをテスト」を押す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今のページをその場で読ませます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263640" y="1554480"/>
            <a:ext cx="5276088" cy="1920240"/>
          </a:xfrm>
          <a:prstGeom prst="roundRect">
            <a:avLst>
              <a:gd name="adj" fmla="val 5714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92240" y="17190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「前回のクロール」の読み方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492240" y="21031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直した日より前 → Googleがまだ来ていないだけ。設定は無関係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直した日より後なのに古い → 調査が必要。ご連絡ください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263640" y="3657600"/>
            <a:ext cx="5276088" cy="1371600"/>
          </a:xfrm>
          <a:prstGeom prst="roundRect">
            <a:avLst>
              <a:gd name="adj" fmla="val 8000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483096" y="3858768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483096" y="3858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922008" y="3803904"/>
            <a:ext cx="4398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反映を早めたいとき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「インデックス登録をリクエスト」を押します。1日の上限があるので、大事なページから。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594360" y="5120640"/>
            <a:ext cx="10945368" cy="1005840"/>
          </a:xfrm>
          <a:prstGeom prst="roundRect">
            <a:avLst>
              <a:gd name="adj" fmla="val 10909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13816" y="532180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813816" y="5321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1252728" y="5266944"/>
            <a:ext cx="10067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検索窓だけで進捗を見る方法もあります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Googleで  site:aspath-life.com  と検索すると、登録されているページの一覧が出ます。古い表記が減っていれば順調です。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Shape 1"/>
          <p:cNvSpPr/>
          <p:nvPr/>
        </p:nvSpPr>
        <p:spPr>
          <a:xfrm>
            <a:off x="548640" y="329184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329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207008" y="292608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見る数字は、3つだけで足ります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1225296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全部見ようとすると続きません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94360" y="1554480"/>
            <a:ext cx="342900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240">
            <a:solidFill>
              <a:srgbClr val="DCE6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1783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ユーザー数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何人が来たか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14400" y="2743200"/>
            <a:ext cx="2788920" cy="822960"/>
          </a:xfrm>
          <a:prstGeom prst="roundRect">
            <a:avLst>
              <a:gd name="adj" fmla="val 8889"/>
            </a:avLst>
          </a:prstGeom>
          <a:solidFill>
            <a:srgbClr val="F2F5F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60120" y="281635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集客 →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ユーザー獲得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7033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先月と比べて増えているか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297680" y="1554480"/>
            <a:ext cx="342900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240">
            <a:solidFill>
              <a:srgbClr val="DCE6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480560" y="1783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表示回数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4480560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どのページが読まれたか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617720" y="2743200"/>
            <a:ext cx="2788920" cy="822960"/>
          </a:xfrm>
          <a:prstGeom prst="roundRect">
            <a:avLst>
              <a:gd name="adj" fmla="val 8889"/>
            </a:avLst>
          </a:prstGeom>
          <a:solidFill>
            <a:srgbClr val="F2F5F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663440" y="281635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エンゲージメント →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ページとスクリーン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4480560" y="37033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プランと料金が多い＝検討中の方が多い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001000" y="1554480"/>
            <a:ext cx="342900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240">
            <a:solidFill>
              <a:srgbClr val="DCE6E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183880" y="1783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クリック数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8183880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どんな言葉で検索して来たか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321040" y="2743200"/>
            <a:ext cx="2788920" cy="822960"/>
          </a:xfrm>
          <a:prstGeom prst="roundRect">
            <a:avLst>
              <a:gd name="adj" fmla="val 8889"/>
            </a:avLst>
          </a:prstGeom>
          <a:solidFill>
            <a:srgbClr val="F2F5F6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366760" y="281635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Search Console →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検索結果のパフォーマンス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8183880" y="37033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次に書く記事のヒントになります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94360" y="5212080"/>
            <a:ext cx="10927080" cy="914400"/>
          </a:xfrm>
          <a:prstGeom prst="roundRect">
            <a:avLst>
              <a:gd name="adj" fmla="val 12000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13816" y="5413248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13816" y="5413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252728" y="5358384"/>
            <a:ext cx="10049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スマホアプリが便利です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「Google アナリティクス」アプリを入れておくと、移動中でも訪問者数を確認できます。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Shape 1"/>
          <p:cNvSpPr/>
          <p:nvPr/>
        </p:nvSpPr>
        <p:spPr>
          <a:xfrm>
            <a:off x="548640" y="329184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329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207008" y="292608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コメントスパムへの備え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1225296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放置しても表示されませんが、溜まると見落としの原因になります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1050" dirty="0"/>
          </a:p>
        </p:txBody>
      </p:sp>
      <p:pic>
        <p:nvPicPr>
          <p:cNvPr id="9" name="Image 1" descr="/sessions/compassionate-sweet-heisenberg/mnt/dev-aspath-life-main/_wp移行素材/★引継ぎ資料/画像/03_コメント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63040"/>
            <a:ext cx="6309360" cy="307420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94360" y="1463040"/>
            <a:ext cx="6309360" cy="307420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086600" y="15087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見分け方（基本編のおさらい）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086600" y="187452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英語で書かれている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知らないサイトへのリンクがある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記事の内容と噛み合っていない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中身のない称賛だけ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086600" y="3383280"/>
            <a:ext cx="4480560" cy="1600200"/>
          </a:xfrm>
          <a:prstGeom prst="roundRect">
            <a:avLst>
              <a:gd name="adj" fmla="val 6857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306056" y="3584448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306056" y="3584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7744968" y="3529584"/>
            <a:ext cx="36027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減らす設定もあります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 → ディスカッション で「〇日より古い記事のコメントを閉じる」を有効にすると、古い記事が狙われにくくなります。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94360" y="5166360"/>
            <a:ext cx="10945368" cy="960120"/>
          </a:xfrm>
          <a:prstGeom prst="roundRect">
            <a:avLst>
              <a:gd name="adj" fmla="val 11429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13816" y="536752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813816" y="5367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1252728" y="5312664"/>
            <a:ext cx="10067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サンプル記事は削除をおすすめします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WordPress初期の練習用記事（英語の題名のもの）が下書きで残っています。スパムの標的になりやすいため、削除のご判断をお願いします。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Shape 1"/>
          <p:cNvSpPr/>
          <p:nvPr/>
        </p:nvSpPr>
        <p:spPr>
          <a:xfrm>
            <a:off x="548640" y="329184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329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207008" y="292608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実際に起きた不具合と、その予防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1225296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同じことが起きたとき、思い出せるように残します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94360" y="1444752"/>
            <a:ext cx="10945368" cy="1024128"/>
          </a:xfrm>
          <a:prstGeom prst="roundRect">
            <a:avLst>
              <a:gd name="adj" fmla="val 8929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1545336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画像1枚ごとに、中身の無いページが作られていた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1874520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最大156ページ。Googleのサイトリンクに「ASPATHロゴ」として拾われていた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086600" y="1627632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EDF6E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223760" y="167335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テーマ側で自動転送するようにしました。対応済み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4360" y="2578608"/>
            <a:ext cx="10945368" cy="1024128"/>
          </a:xfrm>
          <a:prstGeom prst="roundRect">
            <a:avLst>
              <a:gd name="adj" fmla="val 8929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267919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存在しないページの設定が、管理画面を指していた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3008376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404ページのcanonicalがwp-adminのURLになっていた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086600" y="2761488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EDF6E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223760" y="280720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テーマ側で打ち消しました。対応済み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94360" y="3712464"/>
            <a:ext cx="10945368" cy="1024128"/>
          </a:xfrm>
          <a:prstGeom prst="roundRect">
            <a:avLst>
              <a:gd name="adj" fmla="val 8929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381304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表示していない質問が、Googleへの申告に入っていた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4142232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FAQの構造化データ6問中5問が、ページ上に存在しなかった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086600" y="3895344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EDF6EE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223760" y="394106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実データから自動生成に変更。ズレなくなりました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94360" y="4846320"/>
            <a:ext cx="10945368" cy="1024128"/>
          </a:xfrm>
          <a:prstGeom prst="roundRect">
            <a:avLst>
              <a:gd name="adj" fmla="val 8929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2960" y="4946904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同じ内容のページが2つあった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22960" y="5276088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見出し4つが一致。導線のない方が検索に出ていた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086600" y="5029200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EDF6EE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223760" y="507492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301転送で1本に統合しました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94360" y="5961888"/>
            <a:ext cx="10945368" cy="731520"/>
          </a:xfrm>
          <a:prstGeom prst="roundRect">
            <a:avLst>
              <a:gd name="adj" fmla="val 15000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13816" y="6163056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13816" y="6163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1252728" y="6108192"/>
            <a:ext cx="10067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いずれも対応済みです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同じ症状が出たら、この資料の場所をお伝えください。原因の切り分けから始められます。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92608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AIの使い方は、別冊にまとめました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1463040" y="1737360"/>
            <a:ext cx="9235440" cy="2286000"/>
          </a:xfrm>
          <a:prstGeom prst="roundRect">
            <a:avLst>
              <a:gd name="adj" fmla="val 6400"/>
            </a:avLst>
          </a:prstGeom>
          <a:solidFill>
            <a:srgbClr val="F4E9D8"/>
          </a:solidFill>
          <a:ln w="19050">
            <a:solidFill>
              <a:srgbClr val="DD823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828800" y="2057400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DD823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828800" y="2057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AI活用編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27432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★ASPATH_サイト運用マニュアル_AI活用編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828800" y="320040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そのまま貼って使えるプロンプトを8種類。記事のネタ出し・構成案・下書き・検索用の説明文・題名の短縮・お客様への返信文・点検結果の読み取り・イラスト生成。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463040" y="4297680"/>
            <a:ext cx="4526280" cy="1737360"/>
          </a:xfrm>
          <a:prstGeom prst="roundRect">
            <a:avLst>
              <a:gd name="adj" fmla="val 6316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682496" y="449884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682496" y="4498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121408" y="4443984"/>
            <a:ext cx="36484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どのAIでも使えます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ChatGPT・Claude・Gemini、どれをお使いでも同じ書き方で動きます。幸喜はClaudeを使っています。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72200" y="4297680"/>
            <a:ext cx="4526280" cy="1737360"/>
          </a:xfrm>
          <a:prstGeom prst="roundRect">
            <a:avLst>
              <a:gd name="adj" fmla="val 6316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91656" y="449884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391656" y="4498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830568" y="4443984"/>
            <a:ext cx="36484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3つの約束だけ、先に覚えてください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個人情報を貼らない／医学的な内容は必ず確認する／そのまま公開しない。詳しくは別冊に書いています。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応用編のまとめ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3383280" cy="3200400"/>
          </a:xfrm>
          <a:prstGeom prst="roundRect">
            <a:avLst>
              <a:gd name="adj" fmla="val 4000"/>
            </a:avLst>
          </a:prstGeom>
          <a:solidFill>
            <a:srgbClr val="1E3A44"/>
          </a:solidFill>
          <a:ln/>
        </p:spPr>
      </p:sp>
      <p:sp>
        <p:nvSpPr>
          <p:cNvPr id="4" name="Shape 2"/>
          <p:cNvSpPr/>
          <p:nvPr/>
        </p:nvSpPr>
        <p:spPr>
          <a:xfrm>
            <a:off x="2176272" y="1965960"/>
            <a:ext cx="685800" cy="685800"/>
          </a:xfrm>
          <a:prstGeom prst="roundRect">
            <a:avLst>
              <a:gd name="adj" fmla="val 50667"/>
            </a:avLst>
          </a:prstGeom>
          <a:solidFill>
            <a:srgbClr val="F4A2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176272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788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壊さないために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2918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FC8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変えてはいけない4つ</a:t>
            </a:r>
            <a:endParaRPr lang="en-US" sz="12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FC8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作業前のバックアップ</a:t>
            </a:r>
            <a:endParaRPr lang="en-US" sz="12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FC8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困ったらキャッシュ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26280" y="1691640"/>
            <a:ext cx="3383280" cy="3200400"/>
          </a:xfrm>
          <a:prstGeom prst="roundRect">
            <a:avLst>
              <a:gd name="adj" fmla="val 4000"/>
            </a:avLst>
          </a:prstGeom>
          <a:solidFill>
            <a:srgbClr val="1E3A44"/>
          </a:solidFill>
          <a:ln/>
        </p:spPr>
      </p:sp>
      <p:sp>
        <p:nvSpPr>
          <p:cNvPr id="9" name="Shape 7"/>
          <p:cNvSpPr/>
          <p:nvPr/>
        </p:nvSpPr>
        <p:spPr>
          <a:xfrm>
            <a:off x="5879592" y="1965960"/>
            <a:ext cx="685800" cy="685800"/>
          </a:xfrm>
          <a:prstGeom prst="roundRect">
            <a:avLst>
              <a:gd name="adj" fmla="val 50667"/>
            </a:avLst>
          </a:prstGeom>
          <a:solidFill>
            <a:srgbClr val="F4A2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79592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788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続けると効くこと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2918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FC8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説明文は自分で書く</a:t>
            </a:r>
            <a:endParaRPr lang="en-US" sz="12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FC8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数字は3つだけ見る</a:t>
            </a:r>
            <a:endParaRPr lang="en-US" sz="12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FC8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進捗は site: 検索で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0" y="1691640"/>
            <a:ext cx="3383280" cy="3200400"/>
          </a:xfrm>
          <a:prstGeom prst="roundRect">
            <a:avLst>
              <a:gd name="adj" fmla="val 4000"/>
            </a:avLst>
          </a:prstGeom>
          <a:solidFill>
            <a:srgbClr val="1E3A44"/>
          </a:solidFill>
          <a:ln/>
        </p:spPr>
      </p:sp>
      <p:sp>
        <p:nvSpPr>
          <p:cNvPr id="14" name="Shape 12"/>
          <p:cNvSpPr/>
          <p:nvPr/>
        </p:nvSpPr>
        <p:spPr>
          <a:xfrm>
            <a:off x="9582912" y="1965960"/>
            <a:ext cx="685800" cy="685800"/>
          </a:xfrm>
          <a:prstGeom prst="roundRect">
            <a:avLst>
              <a:gd name="adj" fmla="val 50667"/>
            </a:avLst>
          </a:prstGeom>
          <a:solidFill>
            <a:srgbClr val="F4A2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582912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788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AIの使い方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2918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FC8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別冊「AI活用編」に</a:t>
            </a:r>
            <a:endParaRPr lang="en-US" sz="12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FC8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プロンプト8種を</a:t>
            </a:r>
            <a:endParaRPr lang="en-US" sz="12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FC8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まとめています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257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分からなくなったら、そのままご連絡ください。元に戻せないことは、ほとんどありません。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8064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AC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基本編（日々の更新）／サイト更新マニュアル（全体像）／ページの直し方（やさしい版）もあわせてご覧ください。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ASPATH サイト運用マニュアル 応用編</dc:title>
  <dc:subject>PptxGenJS Presentation</dc:subject>
  <dc:creator>ASPATH</dc:creator>
  <cp:lastModifiedBy>ASPATH</cp:lastModifiedBy>
  <cp:revision>1</cp:revision>
  <dcterms:created xsi:type="dcterms:W3CDTF">2026-09-06T18:22:03Z</dcterms:created>
  <dcterms:modified xsi:type="dcterms:W3CDTF">2026-09-06T18:22:03Z</dcterms:modified>
</cp:coreProperties>
</file>