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全網羅版。通読は想定せず、必要な部を開く使い方。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7部構成。通読不要であることを最初に伝える。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難易度の凡例。心理的なハードルを下げるのが目的。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全体像。壊れる範囲が限定的であることを最初に安心材料として伝える。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第1部は「なぜ」の記録。読むだけの章。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最後の行が全体の設計思想。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議事録は 第4回_ASPATH_打合せ議事録.md に全文あり。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「診ない」ではなく「打ち出さない」。ここを誤解しないよう明記。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色コードは AI活用編のプロンプトと連動している。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URL一覧は ★URL一覧.md に全件。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LINE一本化は第4回の決定。ただし後日、フォーム併設に修正した経緯も含む。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第2部は仕組みの説明。読むだけ＋一部コピペ。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この2つの違いが、道A／道Bの分岐の理由。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設計判断の理由。トレードオフを正直に書く。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この表は サイト更新マニュアルにもある。総合版にも載せて自己完結させる。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16個の棚卸し。止めてよい／いけないの線引きが実務で効く。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実際に踏んだ問題から生まれた仕組み。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規約違反だった実例。第6部の点検項目にもつながる。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第3部は公開の記録。同じ作業を繰り返すときの参照用。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時間の実績値を残しておくと、次回の見積もりに使える。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設計判断。リスクを最小化する思想の実例。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公開前点検は万全でも漏れる。だから公開後の点検が要る、という流れ。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公開後に見つかった実例。第6部への橋渡し。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プラグインを増やさない方針。1行追加で拡張できる形。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4つの単元を最初に示す。所要は各10〜15分。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ログインは実際にやっていただく。ブックマーク登録までその場で。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5ステップを頭に入れてもらってから、実画面へ。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実際に題名だけ入れてもらう。公開はまだ押さない。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カテゴリーの付け替えは後からでもできる、と補足する。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固定は終わったら外す運用を勧める。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画面の氏名・連絡先はダミーに差し替えて撮影している旨を伝える。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診断名が入るため、画面を人に見せない・印刷を放置しないことを強調。この画面の氏名・連絡先は資料用のダミー。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実際に1枚差し替えてもらい、更新まで通す。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この画面の2件は実際に届いたスパム。次のスライドで詳しく。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実物2件を一緒に見ながら、その場でスパム処理していただく。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キャッシュは一番よくある相談。ここだけは覚えていただく。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この4つは暗記でなく、資料の場所を覚えてもらえばよい。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バックアップは「保険」。取り方だけ一度やってもらう。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有効化を押しても壊れないが、押す必要がないことを伝える。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道Bの全体像。詳細はサイト更新マニュアル側にある。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キャッシュはいちばん多い相談。3層あることを図で理解してもらう。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実際に1ページ書き換えてもらう。C章のプロンプトと繋げる。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反映の遅さは必ず相談になる。切り分け方を渡しておく。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3指標だけ。権限付与が済んでいない場合は先にそれ。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実際に届いた2件はカジノ系スパム。標的はサンプル記事だった。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再発時に原因を思い出せるように。全て対応済みである点を強調。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F12→Console→貼る。これだけ。実際に一度やってもらう。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初回だけ Chrome が貼り付けをブロックする。allow pasting の入力が必要。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9項目。1つでも×があれば、そのページ名と理由が出力されます。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サイトマップに載ってはいけないURLが入ると、Search Consoleに警告が出る。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301転送は評価を引き継ぐ。削除だと捨てることになる。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画面に無い内容の申告は規約違反。ここは特に重要。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画像404は見ればわかるが、下の方は見落としやすい。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×が出ても慌てなくてよい。コピーして送れば済む。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この3つ以外は開発側に連絡でよい。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判断を求めない。コピーして送れば済む形にしておく。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月1回＋テーマ更新後。カレンダー登録まで一緒にやるとよい。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編集を強制しない。できなくても点検は回る。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医療系サイトなので、ここは飛ばさず読み上げる。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この型を覚えれば、どのAIでも使える。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10個出させて、山口様が3つ選ぶ使い方。全部使わなくてよい。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テーマ名だけ差し替えて繰り返し使える。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見出し1つずつ書かせると品質が上がる。全部まとめて書かせない。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AIは文字数を数え間違える。必ずSureRankの表示で確認する。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2026年9月にコラム3本がこれで直った。実用性が高い。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個人情報を貼らないことを強調。名前は「A様」等に置き換える。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AIに直させない。意味を理解するための用途に限定する。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ブランド色の指定が要。既存のプロンプト集も案内する。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医療系サイトなので、ここは飛ばさず読み上げる。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用語で詰まったらここに戻る。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どこに何があるかの索引。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引継ぎで最重要。パスワードとZIPの所在。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運用の型。これだけ守れば回る。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締め。困ったら聞いてよい、を最後に置く。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ウェブサイト 総合ドキュメント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企画から、制作・公開・運用・保守まで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10515600" cy="1371600"/>
          </a:xfrm>
          <a:prstGeom prst="roundRect">
            <a:avLst>
              <a:gd name="adj" fmla="val 9333"/>
            </a:avLst>
          </a:prstGeom>
          <a:solidFill>
            <a:srgbClr val="1E3A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70332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このサイトが「なぜ、こうなっているのか」を残すための資料です。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手順だけでなく、そう決めた理由まで書いてあります。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https://aspath-life.com/　／　2026年9月　ASPATH 様　ご納品資料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この資料の使い方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全部を読む必要はありません。必要な部だけ開いてください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45368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17904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5B539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5179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536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企画と設計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53619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なぜこのサイトを作ったか。何を決めたか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020824"/>
            <a:ext cx="10945368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21408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26465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1214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1396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制作と仕組み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13969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どういう作りになっているか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2624328"/>
            <a:ext cx="10945368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72491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27249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2743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公開と移行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74320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どうやって公開したか。何が起きたか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227832"/>
            <a:ext cx="10945368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328416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3284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33467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日々の運用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34670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記事・申込・写真・コメント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3831336"/>
            <a:ext cx="10945368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93192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DD823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3931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783080" y="39502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壊さない触り方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395020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テーマ入替・固定ページ・検索対策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4434840"/>
            <a:ext cx="10945368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535424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B4453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45354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783080" y="45537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点検と保守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55371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公開後の点検。月に1回5分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" y="5038344"/>
            <a:ext cx="10945368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5138928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5B539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" y="51389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783080" y="5157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AIの活用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515721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そのまま使えるプロンプト集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" y="5751576"/>
            <a:ext cx="10945368" cy="822960"/>
          </a:xfrm>
          <a:prstGeom prst="roundRect">
            <a:avLst>
              <a:gd name="adj" fmla="val 13333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" y="5952744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13816" y="5952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252728" y="5897880"/>
            <a:ext cx="1006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よく使うのは第4部です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日々の更新は第4部だけで足ります。第1〜3部は「なぜこうなっているか」を知りたくなったときに開いてください。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ページの右上にある印について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「これは自分がやる話か」が一目で分かるようにしました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45368" cy="1051560"/>
          </a:xfrm>
          <a:prstGeom prst="roundRect">
            <a:avLst>
              <a:gd name="adj" fmla="val 8696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1984248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6276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山口様がご自身でできます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011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管理画面から数クリックで終わる作業です。迷ったら、まずここから。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42032"/>
            <a:ext cx="10945368" cy="1051560"/>
          </a:xfrm>
          <a:prstGeom prst="roundRect">
            <a:avLst>
              <a:gd name="adj" fmla="val 8696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1984248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慣れたら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706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少し慣れたら挑戦できます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090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手順どおりに進めれば大丈夫です。うまくいかなければ、そこで止めてご連絡ください。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621024"/>
            <a:ext cx="10945368" cy="1051560"/>
          </a:xfrm>
          <a:prstGeom prst="roundRect">
            <a:avLst>
              <a:gd name="adj" fmla="val 8696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41064"/>
            <a:ext cx="1984248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41064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一緒にやる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7856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開発担当と一緒にやります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41696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ファイルを直接さわる作業です。無理に進めず、声をかけてください。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700016"/>
            <a:ext cx="10945368" cy="1051560"/>
          </a:xfrm>
          <a:prstGeom prst="roundRect">
            <a:avLst>
              <a:gd name="adj" fmla="val 8696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20056"/>
            <a:ext cx="1984248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20056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864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読むだけで結構です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524865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仕組みの説明です。作業はありません。知っておくと、あとで役に立ちます。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5852160"/>
            <a:ext cx="10945368" cy="731520"/>
          </a:xfrm>
          <a:prstGeom prst="roundRect">
            <a:avLst>
              <a:gd name="adj" fmla="val 15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" y="60533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3816" y="6053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52728" y="5998464"/>
            <a:ext cx="1006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「一緒にやる」でも、コピペで済むように作ってあります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難しい作業ほど、貼り付けるだけの形にしています。中身を理解していなくても動きます。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サイトの全体像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1枚で把握できるようにまとめました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7FAFA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27632"/>
            <a:ext cx="2971800" cy="45720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お客様が見る場所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240280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トップページ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ASPATHについて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プランと料金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コラム（7記事）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お知らせ（3件）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初回体験フォーム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7FAFA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627632"/>
            <a:ext cx="2971800" cy="457200"/>
          </a:xfrm>
          <a:prstGeom prst="roundRect">
            <a:avLst>
              <a:gd name="adj" fmla="val 20000"/>
            </a:avLst>
          </a:prstGeom>
          <a:solidFill>
            <a:srgbClr val="26465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動かしている仕組み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240280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専用テーマ aspath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プラグイン16個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SureForms（問合せ）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SureRank（検索対策）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 Page Cache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LatePoint（予約）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 Kit（解析）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01000" y="141732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7FAFA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627632"/>
            <a:ext cx="2971800" cy="457200"/>
          </a:xfrm>
          <a:prstGeom prst="roundRect">
            <a:avLst>
              <a:gd name="adj" fmla="val 20000"/>
            </a:avLst>
          </a:prstGeom>
          <a:solidFill>
            <a:srgbClr val="5B53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0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外とつながる先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240280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公式LINE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アナリティクス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Search Console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Instagram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Gmail（通知の受け取り）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エックスサーバー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GitHub（ソース管理）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5806440"/>
            <a:ext cx="10945368" cy="777240"/>
          </a:xfrm>
          <a:prstGeom prst="roundRect">
            <a:avLst>
              <a:gd name="adj" fmla="val 14118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600760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6007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5952744"/>
            <a:ext cx="1006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この3つが、それぞれ独立しています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見た目を直してもデータは消えません。プラグインを止めても記事は残ります。壊れる範囲は、思っているより狭いです。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5B53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1488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企画と設計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2004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なぜ、このサイトを作ったのか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打合せで決めたこと（全4回）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ブランド方針の転換 ─ パーキンソン病専門へ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ブランドの決めごと（色・書体・言葉づかい）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サイトの構成と、ページの一覧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お客様の動線 ─ なぜ公式LINEに一本化したか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なぜ、このサイトを作ったのか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出発点を残しておきます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企画と設計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538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前のサイトの課題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21608" y="1453896"/>
            <a:ext cx="7562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山口様がご自身で作られていました。情報は揃っていましたが、初めての方に「専門性」と「信頼感」が伝わりにくい状態でした。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258568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229514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いちばんの目的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2295144"/>
            <a:ext cx="7562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パーキンソン病でお困りの方とご家族に、「ここなら任せられる」と感じていただくこと。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31363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ゴールの形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721608" y="3136392"/>
            <a:ext cx="7562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サイトを見た方が、迷わず公式LINEに登録し、初回体験のお申し込みまで進めること。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941064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対象の地域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721608" y="3977640"/>
            <a:ext cx="7562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鹿児島市内（天文館・鹿児島中央・城西）。オンラインとご自宅訪問で、遠方の方にも対応。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782312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48188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運営の前提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721608" y="4818888"/>
            <a:ext cx="7562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開発担当が離れたあとも、山口様おひとりで更新を続けられること。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806440"/>
            <a:ext cx="10945368" cy="777240"/>
          </a:xfrm>
          <a:prstGeom prst="roundRect">
            <a:avLst>
              <a:gd name="adj" fmla="val 14118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60076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" y="6007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52728" y="5952744"/>
            <a:ext cx="1006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最後の1行が、この資料が存在する理由です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「作って終わり」にしないために、判断の理由まで含めて残しています。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打合せで決めたこと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全4回。大きな方針はここで固まりました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企画と設計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0945368" cy="960120"/>
          </a:xfrm>
          <a:prstGeom prst="roundRect">
            <a:avLst>
              <a:gd name="adj" fmla="val 9524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73352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2646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6733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5544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要件の確認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9202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ターゲット、載せたい内容、参考にしたいサイトの共有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487168"/>
            <a:ext cx="10945368" cy="960120"/>
          </a:xfrm>
          <a:prstGeom prst="roundRect">
            <a:avLst>
              <a:gd name="adj" fmla="val 9524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7432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26465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26243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構成の合意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29900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8つのセクション構成を決定。ページの並び順を確定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557016"/>
            <a:ext cx="10945368" cy="960120"/>
          </a:xfrm>
          <a:prstGeom prst="roundRect">
            <a:avLst>
              <a:gd name="adj" fmla="val 9524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81304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26465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8130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3694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デザインの確認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40599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配色・写真・イラストの方向性。ロゴの扱い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626864"/>
            <a:ext cx="10945368" cy="960120"/>
          </a:xfrm>
          <a:prstGeom prst="roundRect">
            <a:avLst>
              <a:gd name="adj" fmla="val 9524"/>
            </a:avLst>
          </a:prstGeom>
          <a:solidFill>
            <a:srgbClr val="FDF0E6"/>
          </a:solidFill>
          <a:ln w="17780">
            <a:solidFill>
              <a:srgbClr val="DD82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882896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D823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8828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240280" y="47640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方針の転換と細部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2240280" y="512978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2026年7月24日。パーキンソン病専門への特化、公式LINEへの一本化を決定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5833872"/>
            <a:ext cx="10945368" cy="960120"/>
          </a:xfrm>
          <a:prstGeom prst="roundRect">
            <a:avLst>
              <a:gd name="adj" fmla="val 1142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" y="6035040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3816" y="6035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52728" y="5980176"/>
            <a:ext cx="10067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第4回が転換点でした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ここで「脳卒中を外し、パーキンソン病専門として打ち出す」と決まりました。サイトの文言・構成・コラムまで影響した、いちばん大きな決定です。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ブランド方針の転換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「脳卒中も診る」から「パーキンソン病専門」へ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企画と設計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7FAFA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変更前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965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ASPATH・アスパス：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鹿児島のパーキンソン病と脳卒中専門の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トレーニングスタジオ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6208" y="137160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EDF6EE"/>
          </a:solidFill>
          <a:ln w="1778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0528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1965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ASPATH｜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トレーニングスタジオ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10945368" cy="676656"/>
          </a:xfrm>
          <a:prstGeom prst="roundRect">
            <a:avLst>
              <a:gd name="adj" fmla="val 108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369417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事業としては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355848" y="3694176"/>
            <a:ext cx="7927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脳卒中の方も、これまでどおり対象です。診ないという意味ではありません。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10945368" cy="676656"/>
          </a:xfrm>
          <a:prstGeom prst="roundRect">
            <a:avLst>
              <a:gd name="adj" fmla="val 108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" y="44074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サイト上では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4407408"/>
            <a:ext cx="7927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「専門」と言い切ることで、パーキンソン病でお困りの方に届きやすくします。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5084064"/>
            <a:ext cx="10945368" cy="676656"/>
          </a:xfrm>
          <a:prstGeom prst="roundRect">
            <a:avLst>
              <a:gd name="adj" fmla="val 108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" y="51206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残したもの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5120640"/>
            <a:ext cx="7927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山口様のご資格「脳卒中療養指導士」、ご経歴、受賞論文。これらは信頼の裏付けです。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943600"/>
            <a:ext cx="10945368" cy="658368"/>
          </a:xfrm>
          <a:prstGeom prst="roundRect">
            <a:avLst>
              <a:gd name="adj" fmla="val 16667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" y="614476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3816" y="6144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6089904"/>
            <a:ext cx="1006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2026年9月、この方針にあわせてサイト全体の表記を統一しました。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ブランドの決めごと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色・書体・言葉づかい。ここを守ると、統一感が保てます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企画と設計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264653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紺色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#264653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見出し・本文・背景の濃い部分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74136" y="17373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A261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74136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オレンジ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74136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#F4A261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74136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強調・ボタン・アクセント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53912" y="17373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53912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生成り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53912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#F4E9D8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53912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やわらかい背景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33688" y="17373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E3A44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33688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濃紺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33688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#1E3A44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33688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さらに濃い背景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297680"/>
            <a:ext cx="10945368" cy="676656"/>
          </a:xfrm>
          <a:prstGeom prst="roundRect">
            <a:avLst>
              <a:gd name="adj" fmla="val 108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" y="433425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書体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807208" y="4334256"/>
            <a:ext cx="8476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見出しは明朝体（Zen Old Mincho）、本文はゴシック体（Zen Kaku Gothic New）。落ち着きと読みやすさの両立。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010912"/>
            <a:ext cx="10945368" cy="676656"/>
          </a:xfrm>
          <a:prstGeom prst="roundRect">
            <a:avLst>
              <a:gd name="adj" fmla="val 108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0392" y="504748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言葉づかい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807208" y="5047488"/>
            <a:ext cx="8476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「ですます調」。専門用語には必ず言い換えを添える。効果の断定はしない。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806440"/>
            <a:ext cx="10945368" cy="777240"/>
          </a:xfrm>
          <a:prstGeom prst="roundRect">
            <a:avLst>
              <a:gd name="adj" fmla="val 14118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" y="60076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3816" y="6007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252728" y="5952744"/>
            <a:ext cx="1006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色のコードは、AIに画像を作らせるときにも使います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第7部のプロンプトに、この3色を指定する形で書いてあります。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サイトの構成とページ一覧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公開しているのは13ページです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企画と設計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トップページ　/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01768" y="1408176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サイトの顔。悩み→変化→料金→導線の順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1865376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1901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ASPATHについて　/about/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1901952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理念・代表紹介・トレーニングの考え方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359152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23957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プランと料金　/services/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2395728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初回体験と継続プラン。体チェックの紹介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852928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28895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　/access/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01768" y="2889504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天文館・鹿児島中央・城西の3スタジオ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346704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3383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初回体験・お問い合わせ　/contact/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01768" y="3383280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公式LINE優先。フォームも併設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840480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" y="38770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　/faq/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01768" y="3877056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6問。検索対象からは外しています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334256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43708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　/column/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01768" y="4370832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読みもの7記事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828032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0392" y="4864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　/category/info/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001768" y="4864608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告知3件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5321808"/>
            <a:ext cx="10945368" cy="457200"/>
          </a:xfrm>
          <a:prstGeom prst="roundRect">
            <a:avLst>
              <a:gd name="adj" fmla="val 16000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0392" y="5358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初回体験フォーム　/taiken-2026as9y/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01768" y="5358384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公式LINE登録者向けの限定URL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" y="5925312"/>
            <a:ext cx="10945368" cy="777240"/>
          </a:xfrm>
          <a:prstGeom prst="roundRect">
            <a:avLst>
              <a:gd name="adj" fmla="val 14118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" y="6126480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13816" y="6126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52728" y="6071616"/>
            <a:ext cx="1006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このほかに、サイトマップ・プライバシーポリシー・特定商取引法の3ページがあります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法令や信頼性のために必要なページです。内容が変わることはほとんどありません。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お客様の動線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なぜ、公式LINEに一本化したのか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　企画と設計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57276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459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48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サイトを見る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悩みに共感してもらう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9659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374136" y="13716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157276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2569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465576" y="2148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公式LINEに登録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65576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ここが唯一の入口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34456" y="19659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53912" y="13716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5472" y="157276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0547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245352" y="2148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限定URLを受け取る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45352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LINEでフォームのURLをお渡し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714232" y="19659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933688" y="13716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85248" y="157276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8524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025128" y="2148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初回体験を申し込む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025128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半額4,400円が適用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3200400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なぜ一本化したか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721608" y="3236976"/>
            <a:ext cx="7562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入口が2つあると、お客様が迷います。第4回打合せで「公式LINEに絞る」と決めました。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3858768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" y="38953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LINEの利点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721608" y="3895344"/>
            <a:ext cx="7562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登録後もこちらから連絡でき、関係が続きます。電話やメールより気軽に相談していただけます。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4517136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" y="45537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ただし例外あり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721608" y="4553712"/>
            <a:ext cx="7562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地域柄、LINEを使われない方もいらっしゃいます。そのため、お問い合わせページにはフォームも残しています。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" y="5175504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" y="5212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半額の条件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721608" y="5212080"/>
            <a:ext cx="7562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公式LINEにご登録いただいた方が対象です。フォームからのお申し込みは通常8,800円になります。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" y="5943600"/>
            <a:ext cx="10945368" cy="658368"/>
          </a:xfrm>
          <a:prstGeom prst="roundRect">
            <a:avLst>
              <a:gd name="adj" fmla="val 16667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" y="614476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13816" y="6144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252728" y="6089904"/>
            <a:ext cx="1006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「LINE優先／フォームも用意」が、いまの形です。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1488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制作と仕組み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2004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どういう作りになっているか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なぜ、HTMLからテーマを作っているのか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ファイルとページの対応表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プラグイン16個の役割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フォーム・言語切替・スマホ対応の仕組み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構造化データ ─ Googleへの申告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どういう作りになっているか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3つの層に分かれています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制作と仕組み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1097280"/>
          </a:xfrm>
          <a:prstGeom prst="roundRect">
            <a:avLst>
              <a:gd name="adj" fmla="val 8333"/>
            </a:avLst>
          </a:prstGeom>
          <a:solidFill>
            <a:srgbClr val="F7FAFA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4592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5270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5727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エックスサーバー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9476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サイトの置き場所。契約はASPATH様名義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578608"/>
            <a:ext cx="10945368" cy="1097280"/>
          </a:xfrm>
          <a:prstGeom prst="roundRect">
            <a:avLst>
              <a:gd name="adj" fmla="val 8333"/>
            </a:avLst>
          </a:prstGeom>
          <a:solidFill>
            <a:srgbClr val="F7FAFA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852928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26465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2852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77977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記事・画像・設定の入れもの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記事や写真は、ここに保存されています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785616"/>
            <a:ext cx="10945368" cy="1097280"/>
          </a:xfrm>
          <a:prstGeom prst="roundRect">
            <a:avLst>
              <a:gd name="adj" fmla="val 8333"/>
            </a:avLst>
          </a:prstGeom>
          <a:solidFill>
            <a:srgbClr val="F7FAFA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059936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0599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aspath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9867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見た目と固定ページの中身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4361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当サイト専用に作ったもの。ZIPで入れ替えます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5129784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5330952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52728" y="5276088"/>
            <a:ext cx="4471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記事はWordPressの中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コラム・お知らせ・コメント・お申し込みは、テーマを入れ替えても消えません。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190488" y="5129784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9944" y="5330952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9944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48856" y="5276088"/>
            <a:ext cx="4471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固定ページはテーマの中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トップやプランと料金の文章は、テーマの中にあります。だから管理画面から直せません。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なぜ、HTMLからテーマを作っているのか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デザインを崩さないための選択です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制作と仕組み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832104"/>
          </a:xfrm>
          <a:prstGeom prst="roundRect">
            <a:avLst>
              <a:gd name="adj" fmla="val 87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2926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ふつうのWordPress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04488" y="1408176"/>
            <a:ext cx="73792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管理画面で誰でも文章を直せます。反面、レイアウトが崩れやすく、意図しない見た目になりがちです。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240280"/>
            <a:ext cx="10945368" cy="832104"/>
          </a:xfrm>
          <a:prstGeom prst="roundRect">
            <a:avLst>
              <a:gd name="adj" fmla="val 87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2276856"/>
            <a:ext cx="2926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このサイト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904488" y="2276856"/>
            <a:ext cx="73792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デザインを固めたHTMLを、そのままテーマに変換しています。崩れませんが、固定ページの文章は管理画面から直せません。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10945368" cy="832104"/>
          </a:xfrm>
          <a:prstGeom prst="roundRect">
            <a:avLst>
              <a:gd name="adj" fmla="val 87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3145536"/>
            <a:ext cx="2926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04488" y="3145536"/>
            <a:ext cx="73792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「初めての方に信頼感を持ってもらう」が最優先でした。そのため、崩れないことを取りました。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977640"/>
            <a:ext cx="10945368" cy="832104"/>
          </a:xfrm>
          <a:prstGeom prst="roundRect">
            <a:avLst>
              <a:gd name="adj" fmla="val 87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4014216"/>
            <a:ext cx="2926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ただし例外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904488" y="4014216"/>
            <a:ext cx="73792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「ASPATHについて」だけは、文章をWordPress側に移してあります。ここは管理画面から直せます。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120640"/>
            <a:ext cx="10945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HTMLファイル　→　テーマを作る.ps1　→　aspath-theme.zip　→　WordPressにアップロード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5623560"/>
            <a:ext cx="10945368" cy="960120"/>
          </a:xfrm>
          <a:prstGeom prst="roundRect">
            <a:avLst>
              <a:gd name="adj" fmla="val 11429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" y="58247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" y="5824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5769864"/>
            <a:ext cx="10067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この流れが、第5部で出てくる「道B」です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固定ページを直すときは、この4段階を通ります。手順は第5部にまとめています。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一緒にやる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ファイルとページの対応表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固定ページを直すときは、この表を見てください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制作と仕組み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4536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813048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ページ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URL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開くファイル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トップページ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index.html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ASPATHについて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/about/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about.html ※管理画面でも可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プランと料金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/services/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price.html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/access/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access.html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初回体験・お問い合わせ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/contact/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contact.html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よくある質問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/faq/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faq.html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サイトマップ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/sitemap/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sitemap.html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プライバシーポリシー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/privacy/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privacy.html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特定商取引法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/tokushoho/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tokushoho.html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初回体験フォーム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/taiken-2026as9y/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trial-entry.html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対面トレーニング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/taimentraining/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記事なので管理画面から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オンライン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/onlineaspath/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記事なので管理画面から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5532120"/>
            <a:ext cx="10945368" cy="1051560"/>
          </a:xfrm>
          <a:prstGeom prst="roundRect">
            <a:avLst>
              <a:gd name="adj" fmla="val 10435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3816" y="573328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" y="5733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52728" y="5678424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下2つは「記事」なので、管理画面から直せます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対面トレーニングとオンラインは、見た目はページですが中身は投稿です。第4部の手順で編集できます。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プラグイン16個の役割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止めてよいもの・止めてはいけないもの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制作と仕組み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止めてはいけない（6個）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011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SureForms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258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お問い合わせフォーム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578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SureRank SEO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8254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検索対策（題名・説明文）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1455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 Page Cache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3924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表示を速くする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7124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 初回体験フォーム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959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申込フォーム（自作）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2793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 Kit by Google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526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アナリティクス・Search Console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8463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LatePoint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093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予約機能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44768" y="13716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7FAFA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9088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補助的なもの（10個）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20116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Optimole　画像の最適化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Spectra Legacy / Otter　記事の装飾ブロック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LIQUID SPEECH BALLOON　吹き出し表示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All-in-One WP Migration　バックアップ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WP STAGING　検証用の複製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CloudSecure WP Security　不正ログイン対策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Duplicate Page　ページの複製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LightStart　メンテナンス表示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Starter Templates　雛形（未使用）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5669280"/>
            <a:ext cx="10945368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" y="58704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3816" y="5870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52728" y="5815584"/>
            <a:ext cx="10067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プラグインの更新は、バックアップを取ってから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左の6個は、止めるとサイトの機能が失われます。更新自体は必要ですが、必ず作業前にバックアップを取ってください（第5部）。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知っておくと役に立つ仕組み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トラブルのときに、原因の見当がつきます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制作と仕組み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フォームの二重構成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1408176"/>
            <a:ext cx="7196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お問い合わせはSureForms、初回体験は自作プラグイン。分けた理由は、申込内容を管理画面に残すためです。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212848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22494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言語の切り替え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87368" y="2249424"/>
            <a:ext cx="7196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英語表示は、文字を丸ごと差し替える仕組みです。そのため、切り替え対象の中に画像を入れると消えます。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309067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スマホ対応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87368" y="3090672"/>
            <a:ext cx="7196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画面幅760pxを境に、レイアウトを切り替えています。ヒーロー写真だけは、スマホ用の縦長画像を別に用意しています。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895344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画像のキャッシュ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87368" y="3931920"/>
            <a:ext cx="7196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画像は1年間ブラウザに保存されます。差し替えても変わらないのはこのためで、ファイル名に印を付けて解決しています。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736592"/>
            <a:ext cx="10945368" cy="804672"/>
          </a:xfrm>
          <a:prstGeom prst="roundRect">
            <a:avLst>
              <a:gd name="adj" fmla="val 90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47731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ページ別のCSS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87368" y="4773168"/>
            <a:ext cx="7196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ページごとに見た目のファイルを分けています。1ページ直しても、他のページに影響しません。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5806440"/>
            <a:ext cx="10945368" cy="777240"/>
          </a:xfrm>
          <a:prstGeom prst="roundRect">
            <a:avLst>
              <a:gd name="adj" fmla="val 14118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60076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" y="6007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52728" y="5952744"/>
            <a:ext cx="1006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どれも、実際にトラブルが起きて対処した結果です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画像が変わらない・スマホで写真が出ない・英語にすると画像が消える。すべて経験済みです。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構造化データ ─ Googleへの申告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人には見えませんが、検索結果に効きます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　制作と仕組み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786384"/>
          </a:xfrm>
          <a:prstGeom prst="roundRect">
            <a:avLst>
              <a:gd name="adj" fmla="val 9302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これは何か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1408176"/>
            <a:ext cx="7196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「ここは治療院です」「住所はここです」「料金はこうです」と、機械が読める形でGoogleに伝えるデータです。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10945368" cy="786384"/>
          </a:xfrm>
          <a:prstGeom prst="roundRect">
            <a:avLst>
              <a:gd name="adj" fmla="val 9302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223113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HealthClub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87368" y="2231136"/>
            <a:ext cx="7196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業種・住所・営業エリア・代表者・料金プランを申告しています。トップページに出力。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10945368" cy="786384"/>
          </a:xfrm>
          <a:prstGeom prst="roundRect">
            <a:avLst>
              <a:gd name="adj" fmla="val 9302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30540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FAQPage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87368" y="3054096"/>
            <a:ext cx="7196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よくある質問6問を申告。トップページに出力しています。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10945368" cy="786384"/>
          </a:xfrm>
          <a:prstGeom prst="roundRect">
            <a:avLst>
              <a:gd name="adj" fmla="val 9302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387705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BreadcrumbList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087368" y="3877056"/>
            <a:ext cx="7196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「ホーム › プランと料金」のような階層。検索結果のURL部分に出ます。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663440"/>
            <a:ext cx="10945368" cy="786384"/>
          </a:xfrm>
          <a:prstGeom prst="roundRect">
            <a:avLst>
              <a:gd name="adj" fmla="val 9302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470001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いちばん大事な決まり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87368" y="4700016"/>
            <a:ext cx="7196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申告した内容は、必ず画面にも表示されていること。これはGoogleの必須要件です。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669280"/>
            <a:ext cx="10945368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58704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" y="5870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52728" y="5815584"/>
            <a:ext cx="10067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2026年9月、この決まりに違反していた箇所を修正しました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FAQの申告6問のうち5問が、実際のページに存在していませんでした。現在は実データから自動生成する方式に変えています。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1488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公開と移行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2004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公開までの流れ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なぜ「方式B」を選んだのか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公開前におこなった最終点検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旧URLの引き継ぎ（301転送）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公開後に見つかった不具合と、その対処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公開までの流れ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段階を踏んで、少しずつ確かめながら進めました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　公開と移行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2029968" cy="1737360"/>
          </a:xfrm>
          <a:prstGeom prst="roundRect">
            <a:avLst>
              <a:gd name="adj" fmla="val 5263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0744" y="1572768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8074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14884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6888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HTMLでデザインを作り、山口様に確認いただく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16352" y="1371600"/>
            <a:ext cx="2029968" cy="1737360"/>
          </a:xfrm>
          <a:prstGeom prst="roundRect">
            <a:avLst>
              <a:gd name="adj" fmla="val 5263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1572768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0273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889504" y="214884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テーマ化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89504" y="246888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HTMLをWordPressテーマに変換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38344" y="1371600"/>
            <a:ext cx="2029968" cy="1737360"/>
          </a:xfrm>
          <a:prstGeom prst="roundRect">
            <a:avLst>
              <a:gd name="adj" fmla="val 5263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24728" y="1572768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2472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111496" y="214884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仮公開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11496" y="246888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限定URLで山口様に確認いただく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60336" y="1371600"/>
            <a:ext cx="2029968" cy="1737360"/>
          </a:xfrm>
          <a:prstGeom prst="roundRect">
            <a:avLst>
              <a:gd name="adj" fmla="val 5263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1572768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333488" y="214884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本番切替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33488" y="246888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方式Bで本番サイトを入れ替え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82328" y="1371600"/>
            <a:ext cx="2029968" cy="1737360"/>
          </a:xfrm>
          <a:prstGeom prst="roundRect">
            <a:avLst>
              <a:gd name="adj" fmla="val 5263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68712" y="1572768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6871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555480" y="214884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公開後点検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555480" y="246888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実際のサイトで動作を確認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3337560"/>
            <a:ext cx="10945368" cy="694944"/>
          </a:xfrm>
          <a:prstGeom prst="roundRect">
            <a:avLst>
              <a:gd name="adj" fmla="val 10526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" y="337413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いちばん時間をかけたところ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270248" y="3374136"/>
            <a:ext cx="7013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仮公開での確認です。実際の画面を見ていただき、細かい修正を重ねました。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" y="4069080"/>
            <a:ext cx="10945368" cy="694944"/>
          </a:xfrm>
          <a:prstGeom prst="roundRect">
            <a:avLst>
              <a:gd name="adj" fmla="val 10526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0392" y="41056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切替の所要時間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270248" y="4105656"/>
            <a:ext cx="7013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約3時間。うちサイトが止まったのは約40分でした。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94360" y="4800600"/>
            <a:ext cx="10945368" cy="694944"/>
          </a:xfrm>
          <a:prstGeom prst="roundRect">
            <a:avLst>
              <a:gd name="adj" fmla="val 10526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0392" y="483717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公開日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4270248" y="4837176"/>
            <a:ext cx="7013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　https://aspath-life.com/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94360" y="5669280"/>
            <a:ext cx="10945368" cy="914400"/>
          </a:xfrm>
          <a:prstGeom prst="roundRect">
            <a:avLst>
              <a:gd name="adj" fmla="val 12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" y="58704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13816" y="5870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252728" y="5815584"/>
            <a:ext cx="10067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詳しい手順は、別途の手順書に残しています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★フェーズ9_本番切替_方式B_実行手順.md　に、コマンドまで含めて記録してあります。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なぜ「方式B」を選んだのか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失敗したときの被害を、小さくするためです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　公開と移行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4536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178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方式A（データを丸ごと移す）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方式B（採用）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URLの置換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52か所を一括置換。漏れると画像が全部消える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そもそも発生しない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本番の既存データ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全部上書きされる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残る（触った部分だけ変わる）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失敗したとき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バックアップから全体を戻す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その項目だけ直せばよい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移行プラグイン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必要（有料版が要る）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不要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3931920"/>
            <a:ext cx="10945368" cy="877824"/>
          </a:xfrm>
          <a:prstGeom prst="roundRect">
            <a:avLst>
              <a:gd name="adj" fmla="val 833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" y="396849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方式Bが選べた理由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087368" y="3968496"/>
            <a:ext cx="7196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このテーマは固定ページの中身をテーマ自身が持っています。本番にテーマを入れてURLを合わせるだけで、9ページ分の見た目が再現できました。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" y="4846320"/>
            <a:ext cx="10945368" cy="877824"/>
          </a:xfrm>
          <a:prstGeom prst="roundRect">
            <a:avLst>
              <a:gd name="adj" fmla="val 8333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0392" y="488289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実際に移したもの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087368" y="4882896"/>
            <a:ext cx="7196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記事3本の本文、画像18点、キャンペーン投稿、フォームのページ。これだけです。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" y="5897880"/>
            <a:ext cx="10945368" cy="713232"/>
          </a:xfrm>
          <a:prstGeom prst="roundRect">
            <a:avLst>
              <a:gd name="adj" fmla="val 15385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816" y="60990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3816" y="6099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52728" y="6044184"/>
            <a:ext cx="10067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「壊れる範囲を狭くする」という考え方は、運用でも同じです。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公開前におこなった最終点検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2026年8月22日実施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　公開と移行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表示の確認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01768" y="1408176"/>
            <a:ext cx="6281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全13ページを、PC・タブレット・スマホの3つの幅で確認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029968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206654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リンクの確認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2066544"/>
            <a:ext cx="6281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メニュー・フッター・本文中のリンクがすべて生きているか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688336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27249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フォームの送信テスト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2724912"/>
            <a:ext cx="6281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実際に申し込み、通知メールが届くことを確認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346704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3383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メールの到達確認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01768" y="3383280"/>
            <a:ext cx="6281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迷惑メールに入らないか、Gmail側の設定も含めて確認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005072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40416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画像の抜け確認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01768" y="4041648"/>
            <a:ext cx="6281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18点すべてが表示されるか。alt（代替文）も設定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4663440"/>
            <a:ext cx="10945368" cy="621792"/>
          </a:xfrm>
          <a:prstGeom prst="roundRect">
            <a:avLst>
              <a:gd name="adj" fmla="val 1176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" y="470001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検索対策の初期設定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01768" y="4700016"/>
            <a:ext cx="6281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メタタグ・OGP・サイトマップ・Search Console登録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5458968"/>
            <a:ext cx="10945368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5660136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5660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5605272"/>
            <a:ext cx="10067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それでも、公開後に4件の不具合が見つかりました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見た目では気づけないものでした。次のページで、その内容と対処を残します。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公開後に見つかった不具合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すべて対処済みです。同じことが起きたときの参考に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　公開と移行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4447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画像1枚ごとに、中身の無いページが作られていた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73736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最大156ページ。Googleのサイトリンクに「ASPATHロゴ」として拾われていた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5160" y="1508760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EDF6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0" y="15544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テーマ側で自動転送。解消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267712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3408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404ページの正式URL指定が、管理画面を指していた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6334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存在しないURLすべてで発生。未ログインでも再現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2404872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EDF6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24505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テーマ側で打ち消し。解消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163824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2369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FAQの申告6問中5問が、ページ上に無かった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52958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Googleの規約違反にあたる状態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3300984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EDF6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0" y="334670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実データから自動生成に変更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4059936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1330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同じ内容のページが2つあった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42569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見出し4つが一致。導線のない方が検索に出ていた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4197096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EDF6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0" y="424281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301転送で1本に統合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4956048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029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コラム3本の題名が60字を超えていた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32180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検索結果で「…」と切れる状態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95160" y="5093208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EDF6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0" y="51389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点検スクリプトが検出。短縮済み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5925312"/>
            <a:ext cx="10945368" cy="658368"/>
          </a:xfrm>
          <a:prstGeom prst="roundRect">
            <a:avLst>
              <a:gd name="adj" fmla="val 16667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" y="6126480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3816" y="6126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52728" y="6071616"/>
            <a:ext cx="1006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この5件が、第6部の点検項目のもとになっています。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一緒にやる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旧URLの引き継ぎ（301転送）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前のサイトのURLを、無駄にしないための仕組み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　公開と移行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740664"/>
          </a:xfrm>
          <a:prstGeom prst="roundRect">
            <a:avLst>
              <a:gd name="adj" fmla="val 9877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301転送とは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04488" y="1408176"/>
            <a:ext cx="7379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「このページは、こちらに引っ越しました」とブラウザとGoogleに伝える仕組みです。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148840"/>
            <a:ext cx="10945368" cy="740664"/>
          </a:xfrm>
          <a:prstGeom prst="roundRect">
            <a:avLst>
              <a:gd name="adj" fmla="val 9877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2185416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なぜ必要か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904488" y="2185416"/>
            <a:ext cx="7379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旧URLにはGoogleの評価が溜まっています。ただ削除すると、その評価は捨てることになります。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926080"/>
            <a:ext cx="10945368" cy="740664"/>
          </a:xfrm>
          <a:prstGeom prst="roundRect">
            <a:avLst>
              <a:gd name="adj" fmla="val 9877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2962656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どこで設定するか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04488" y="2962656"/>
            <a:ext cx="7379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転送専用のプラグインは入れていません。テーマの中に転送表を持たせています。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023360"/>
            <a:ext cx="10945368" cy="1691640"/>
          </a:xfrm>
          <a:prstGeom prst="roundRect">
            <a:avLst>
              <a:gd name="adj" fmla="val 5405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389534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8952" y="38953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 functions.php にある転送表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13816" y="4261104"/>
            <a:ext cx="1050645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aspath_legacy_redirect_map() {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array(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'for-parkinsons-disease' =&gt; '/パーキンソン病とアスパスの歩み方/',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「旧スラッグ =&gt; 転送先のパス」を、ここに足していきます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5852160"/>
            <a:ext cx="10945368" cy="731520"/>
          </a:xfrm>
          <a:prstGeom prst="roundRect">
            <a:avLst>
              <a:gd name="adj" fmla="val 15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" y="605332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" y="6053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5998464"/>
            <a:ext cx="1006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増やすときは1行足すだけです。書き方が分からなければ、ご連絡ください。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1488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日々の運用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2004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お知らせを出す（カテゴリと先頭固定）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初回体験の申込を見る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写真を差し替える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コメントに対応する（スパムの見分け方）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困ったときの対処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この資料で、4つのことができるようになります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865376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0020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休業やキャンペーンを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お客様に知らせる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29000" y="15544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1865376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62272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申込を確認する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初回体験のお申し込みを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見落とさない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1072" y="15544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4344" y="1865376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24344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写真を差し替える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記事の画像を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新しいものに入れ替える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53144" y="1554480"/>
            <a:ext cx="2606040" cy="2743200"/>
          </a:xfrm>
          <a:prstGeom prst="roundRect">
            <a:avLst>
              <a:gd name="adj" fmla="val 491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86416" y="1865376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86416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317736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コメントに対応する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17736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スパムを見分けて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必要なものだけ承認する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617720"/>
            <a:ext cx="11018520" cy="960120"/>
          </a:xfrm>
          <a:prstGeom prst="roundRect">
            <a:avLst>
              <a:gd name="adj" fmla="val 11429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" y="48188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6384" y="4818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25296" y="4764024"/>
            <a:ext cx="10140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コラムの書き方は、この資料には入れていません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既に山口様にご操作いただいているためです。手順を見返したいときは『山口様向け_ページの直し方.pdf』をご覧ください。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 ─ 管理画面の開き方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https://aspath-life.com/wp-admin/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D2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このURLをお気に入りに入れておくと便利です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上のURLを開く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ブラウザ（Chrome など）のアドレス欄に入力します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657600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593592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ユーザー名とパスワードを入れる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 のアカウントでログインします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279392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215384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左側のメニューから作業を選ぶ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使うのは「投稿」「初回体験の申込」「コメント」の3つです</a:t>
            </a:r>
            <a:endParaRPr lang="en-US" sz="1300" dirty="0"/>
          </a:p>
        </p:txBody>
      </p:sp>
      <p:pic>
        <p:nvPicPr>
          <p:cNvPr id="19" name="Image 0" descr="/sessions/compassionate-sweet-heisenberg/mnt/dev-aspath-life-main/_wp移行素材/★引継ぎ資料/レクチャー素材/00_ダッシュボード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5623560" cy="289864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989320" y="1417320"/>
            <a:ext cx="5623560" cy="2898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4572000"/>
            <a:ext cx="5623560" cy="1417320"/>
          </a:xfrm>
          <a:prstGeom prst="roundRect">
            <a:avLst>
              <a:gd name="adj" fmla="val 7742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08776" y="47731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08776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647688" y="4718304"/>
            <a:ext cx="4745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画面の上のほうに出るお知らせは、無視してかまいません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プラグインの宣伝です。×で閉じても、また出ることがあります。作業には影響しません。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 ─ 全体の流れ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新規追加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 → 新規追加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5328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852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1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1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題名と本文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188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138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97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230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分類する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30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カテゴリー「お知らせ」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048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424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83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516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必要なら固定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16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先頭固定表示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39088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9710928" y="16916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69880" y="187452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69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802368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802368" y="2743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公開ボタン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3657600"/>
            <a:ext cx="11018520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" y="38587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86384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225296" y="3803904"/>
            <a:ext cx="10140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「お知らせ」と「コラム」の違い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お知らせ＝休業・キャンペーンなどの連絡事項。コラム＝パーキンソン病に関する読みもの。分ける場所は同じ「カテゴリー」欄です。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66928" y="4892040"/>
            <a:ext cx="11018520" cy="1051560"/>
          </a:xfrm>
          <a:prstGeom prst="roundRect">
            <a:avLst>
              <a:gd name="adj" fmla="val 10435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86384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225296" y="5038344"/>
            <a:ext cx="10140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書いている途中で閉じても大丈夫です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「下書き保存」を押しておけば、あとから続きを書けます。公開ボタンを押すまで、お客様には見えません。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 ─ 題名と本文を書く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en-US" sz="1050" dirty="0"/>
          </a:p>
        </p:txBody>
      </p:sp>
      <p:pic>
        <p:nvPicPr>
          <p:cNvPr id="9" name="Image 0" descr="/sessions/compassionate-sweet-heisenberg/mnt/dev-aspath-life-main/_wp移行素材/★引継ぎ資料/レクチャー素材/crop/11_本文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11018520" cy="20025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325880"/>
            <a:ext cx="11018520" cy="20025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66836" y="2187822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466836" y="21878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66836" y="2756964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466836" y="2756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964770" y="1783802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0964770" y="17838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288802" y="1783802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288802" y="17838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24128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題名を入れる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「年末年始の休業のお知らせ」など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335584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3558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813048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本文を書く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そのまま打ち込めます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4476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14476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601968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公開する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押した瞬間に載ります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893368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93368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390888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下書き保存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まだ載せたくないとき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4709160"/>
            <a:ext cx="11018520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" y="491032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86384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225296" y="4855464"/>
            <a:ext cx="10140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改行は Enter で問題ありません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Shift＋Enter は使わないでください。行間が崩れることがあります。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 ─ 「お知らせ」に分類する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298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右上の四角いアイコンを押して、設定パネルを開く</a:t>
            </a:r>
            <a:endParaRPr lang="en-US" sz="1500" dirty="0"/>
          </a:p>
        </p:txBody>
      </p:sp>
      <p:pic>
        <p:nvPicPr>
          <p:cNvPr id="10" name="Image 0" descr="/sessions/compassionate-sweet-heisenberg/mnt/dev-aspath-life-main/_wp移行素材/★引継ぎ資料/レクチャー素材/crop/12a_設定アイコン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5120640" cy="23774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" y="1737360"/>
            <a:ext cx="51206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86584" y="3435096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386584" y="3435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224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カテゴリーの「お知らせ」にチェックを入れる</a:t>
            </a:r>
            <a:endParaRPr lang="en-US" sz="1500" dirty="0"/>
          </a:p>
        </p:txBody>
      </p:sp>
      <p:pic>
        <p:nvPicPr>
          <p:cNvPr id="15" name="Image 1" descr="/sessions/compassionate-sweet-heisenberg/mnt/dev-aspath-life-main/_wp移行素材/★引継ぎ資料/レクチャー素材/crop/12b_カテゴリ欄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663440"/>
            <a:ext cx="4206240" cy="21031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6928" y="4663440"/>
            <a:ext cx="420624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295144" y="5367528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2295144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63640" y="1737360"/>
            <a:ext cx="5321808" cy="1371600"/>
          </a:xfrm>
          <a:prstGeom prst="roundRect">
            <a:avLst>
              <a:gd name="adj" fmla="val 8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83096" y="19385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83096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922008" y="1883664"/>
            <a:ext cx="4443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「コラム」のチェックは外してください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両方に入っていると、コラム一覧にも休業のお知らせが並びます。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263640" y="3291840"/>
            <a:ext cx="5321808" cy="1600200"/>
          </a:xfrm>
          <a:prstGeom prst="roundRect">
            <a:avLst>
              <a:gd name="adj" fmla="val 685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83096" y="34930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483096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922008" y="3438144"/>
            <a:ext cx="4443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ここを間違えると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読みものを探しに来た方が、休業のお知らせに行き当たって戸惑います。あとから直せますので、慌てなくて大丈夫です。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 ─ 大事なお知らせを先頭に固定する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298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右側の「ステータス」の文字を押す</a:t>
            </a:r>
            <a:endParaRPr lang="en-US" sz="1500" dirty="0"/>
          </a:p>
        </p:txBody>
      </p:sp>
      <p:pic>
        <p:nvPicPr>
          <p:cNvPr id="10" name="Image 0" descr="/sessions/compassionate-sweet-heisenberg/mnt/dev-aspath-life-main/_wp移行素材/★引継ぎ資料/レクチャー素材/crop/13a_ステータス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4937760" cy="8595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" y="1737360"/>
            <a:ext cx="4937760" cy="8595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5671" y="1975104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25671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開いた窓で「先頭固定表示」にチェック</a:t>
            </a:r>
            <a:endParaRPr lang="en-US" sz="1500" dirty="0"/>
          </a:p>
        </p:txBody>
      </p:sp>
      <p:pic>
        <p:nvPicPr>
          <p:cNvPr id="15" name="Image 1" descr="/sessions/compassionate-sweet-heisenberg/mnt/dev-aspath-life-main/_wp移行素材/★引継ぎ資料/レクチャー素材/crop/13b_固定ポップ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18688"/>
            <a:ext cx="2697480" cy="369417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6928" y="3218688"/>
            <a:ext cx="2697480" cy="36941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38802" y="6281533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3338802" y="62815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63640" y="1737360"/>
            <a:ext cx="53218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83096" y="19385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83096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922008" y="1883664"/>
            <a:ext cx="4443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使いどころ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休業のお知らせ、キャンペーンなど「今いちばん見てほしいもの」だけに使ってください。何件も固定すると、どれが大事か分からなくなります。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263640" y="3657600"/>
            <a:ext cx="5321808" cy="1737360"/>
          </a:xfrm>
          <a:prstGeom prst="roundRect">
            <a:avLst>
              <a:gd name="adj" fmla="val 6316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83096" y="38587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483096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922008" y="3803904"/>
            <a:ext cx="4443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終わったら外してください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期間が過ぎたお知らせが先頭に残っていると、情報が古いサイトに見えてしまいます。同じ手順でチェックを外すだけです。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初回体験の申込を見る ─ 一覧を開く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</a:t>
            </a:r>
            <a:endParaRPr lang="en-US" sz="1050" dirty="0"/>
          </a:p>
        </p:txBody>
      </p:sp>
      <p:pic>
        <p:nvPicPr>
          <p:cNvPr id="9" name="Image 0" descr="/sessions/compassionate-sweet-heisenberg/mnt/dev-aspath-life-main/_wp移行素材/★引継ぎ資料/レクチャー素材/crop/21_一覧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11018520" cy="20391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325880"/>
            <a:ext cx="11018520" cy="20391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6531" y="2909290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96531" y="29092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12768" y="2258883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412768" y="22588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左メニュー「初回体験の申込」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お申し込みはすべてここに入ります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44768" y="36118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4476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20256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お名前の部分を押す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申込の中身が開きます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66928" y="4572000"/>
            <a:ext cx="11018520" cy="1234440"/>
          </a:xfrm>
          <a:prstGeom prst="roundRect">
            <a:avLst>
              <a:gd name="adj" fmla="val 888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6384" y="47731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86384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25296" y="4718304"/>
            <a:ext cx="10140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毎日1回は開いてください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メールが迷惑メールフォルダに入ってしまっても、お申し込みはこの画面に必ず残ります。ここが最後の砦です。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初回体験の申込を見る ─ 中身を確認する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</a:t>
            </a:r>
            <a:endParaRPr lang="en-US" sz="1050" dirty="0"/>
          </a:p>
        </p:txBody>
      </p:sp>
      <p:pic>
        <p:nvPicPr>
          <p:cNvPr id="9" name="Image 0" descr="/sessions/compassionate-sweet-heisenberg/mnt/dev-aspath-life-main/_wp移行素材/★引継ぎ資料/レクチャー素材/crop/22_中身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7680960" cy="26243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298448"/>
            <a:ext cx="7680960" cy="26243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1画面で分かること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7373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お名前・フリガナ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生年月日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お電話番号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ご住所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どなたのご相談か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医師からの診断名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困っていること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ASPATHを知ったきっかけ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4160520"/>
            <a:ext cx="7680960" cy="960120"/>
          </a:xfrm>
          <a:prstGeom prst="roundRect">
            <a:avLst>
              <a:gd name="adj" fmla="val 1142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" y="436168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6384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4306824"/>
            <a:ext cx="6803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この画面は編集しないでください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お客様が送ってくださった内容の控えです。書き換えると、あとで確認できなくなります。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5212080"/>
            <a:ext cx="11018520" cy="868680"/>
          </a:xfrm>
          <a:prstGeom prst="roundRect">
            <a:avLst>
              <a:gd name="adj" fmla="val 12632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" y="54132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86384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25296" y="5358384"/>
            <a:ext cx="10140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診断名などの大切な情報が入っています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画面を開いたまま席を離れない、印刷物を放置しない。ご本人以外の目に触れないよう、取り扱いにご注意ください。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写真を差し替える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34</a:t>
            </a:r>
            <a:endParaRPr lang="en-US" sz="1050" dirty="0"/>
          </a:p>
        </p:txBody>
      </p:sp>
      <p:pic>
        <p:nvPicPr>
          <p:cNvPr id="9" name="Image 0" descr="/sessions/compassionate-sweet-heisenberg/mnt/dev-aspath-life-main/_wp移行素材/★引継ぎ資料/レクチャー素材/crop/31_置換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7680960" cy="51389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298448"/>
            <a:ext cx="7680960" cy="51389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48384" y="4624777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548384" y="4624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959352" y="1330319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959352" y="133031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595360" y="131673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0" y="1316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1252728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写真を1回押す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青い枠が付いて、上に道具が並びます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95360" y="213969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9536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034272" y="2075688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「置換」を押す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新しい写真を選ぶ画面が開きます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95360" y="296265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95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034272" y="2898648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写真を選ぶ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パソコンから選ぶか、すでに入っているものから選びます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595360" y="378561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9536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034272" y="3721608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「更新」を押す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右上のボタンです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595360" y="4617720"/>
            <a:ext cx="3108960" cy="1536192"/>
          </a:xfrm>
          <a:prstGeom prst="roundRect">
            <a:avLst>
              <a:gd name="adj" fmla="val 7143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14816" y="48188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814816" y="4818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253728" y="4764024"/>
            <a:ext cx="22311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元の写真は消えません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差し替えても前の写真はメディアに残ります。戻したくなったら同じ手順で選び直せます。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コメントに対応する ─ 承認待ちを見る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</a:t>
            </a:r>
            <a:endParaRPr lang="en-US" sz="1050" dirty="0"/>
          </a:p>
        </p:txBody>
      </p:sp>
      <p:pic>
        <p:nvPicPr>
          <p:cNvPr id="9" name="Image 0" descr="/sessions/compassionate-sweet-heisenberg/mnt/dev-aspath-life-main/_wp移行素材/★引継ぎ資料/レクチャー素材/crop/41_コメント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11018520" cy="2423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325880"/>
            <a:ext cx="11018520" cy="2423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4107" y="2721201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464107" y="27212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50632" y="1534204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450632" y="15342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56056" y="2686083"/>
            <a:ext cx="384048" cy="38404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856056" y="26860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6928" y="397764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6928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42416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左メニュー「コメント」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数字は承認待ちの件数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288536" y="397764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288536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764024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「承認待ち」を押す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対応が必要なものだけ出ます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010144" y="397764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1014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485632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中身を読む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承認かスパムかを決めます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566928" y="4937760"/>
            <a:ext cx="11018520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6384" y="51389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86384" y="5138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25296" y="5084064"/>
            <a:ext cx="10140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承認するまで、お客様には見えません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放置しても表示はされません。慌てなくて大丈夫です。上の2件は、実際に届いたスパムです。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コメントに対応する ─ スパムの見分け方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170432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いま届いている2件は、両方ともスパムでした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75688"/>
            <a:ext cx="402336" cy="40233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1874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英語で書かれている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日本語のサイトに英語のコメントは、ほぼ宣伝です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36208" y="16916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075688"/>
            <a:ext cx="402336" cy="40233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874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知らないサイトへのリンク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カジノ・投資などのURLが本文や名前に入っています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447288"/>
            <a:ext cx="402336" cy="40233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246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記事と関係がない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体幹の記事に「ルーレット戦略」など、話が噛み合いません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36208" y="30632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3447288"/>
            <a:ext cx="402336" cy="40233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246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妙に褒めてくる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中身のない称賛だけで、具体的な感想がありません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66928" y="4572000"/>
            <a:ext cx="11018520" cy="1463040"/>
          </a:xfrm>
          <a:prstGeom prst="roundRect">
            <a:avLst>
              <a:gd name="adj" fmla="val 75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7731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6384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25296" y="4718304"/>
            <a:ext cx="10140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迷ったら「スパム」を選んでください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承認すると、パーキンソン病専門サイトにカジノへのリンクが載ってしまいます。間違えて本物をスパムにしても、あとから戻せます。承認して載せてしまうより安全です。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　日々の運用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325880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53896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直したのに画面が変わらない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左メニュー「Super Page Cache」→ 赤い「Purge Cache」を押してから、画面を再読み込みしてください。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496312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62432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間違えて公開してしまった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その記事を開き、「ステータス」から「下書き」に戻せば、お客様には見えなくなります。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666744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947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消してしまった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「ゴミ箱」に残っています。ゴミ箱を開いて「復元」を押してください。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837176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6519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パスワードが分からない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E3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ログイン画面の「パスワードをお忘れですか？」から再設定できます。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DD82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1488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壊さない触り方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2004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絶対に変えてはいけない4つ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作業前のバックアップ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テーマの入れ替え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固定ページの文章を直す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検索対策と、数字の見方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38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絶対に変えてはいけないもの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この4つだけは、触らないでください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BEDEC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572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初回体験フォームのURL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920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aspath-life.com/taiken-2026as9y/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609344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変えるとお申し込みが届かなくなります。過去にご案内したURLも切れます。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578608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BEDEC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688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アナリティクスの測定ID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035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G-17MTFN7SQ4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724912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変えると、これまで貯めた訪問者データと繋がらなくなります。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694176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BEDEC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803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表示設定の割り当て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1513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ホームページ＝HOME ／ 投稿ページ＝コラム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84048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入れ替えると、トップページが記事一覧になってしまいます。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809744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BEDEC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919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公開中ページのスラッグ（URLの文字）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52669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/about/ ／ /services/ など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4956048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変えると、その日から検索順位がゼロに戻ります。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5961888"/>
            <a:ext cx="10927080" cy="749808"/>
          </a:xfrm>
          <a:prstGeom prst="roundRect">
            <a:avLst>
              <a:gd name="adj" fmla="val 14634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6163056"/>
            <a:ext cx="310896" cy="310896"/>
          </a:xfrm>
          <a:prstGeom prst="ellipse">
            <a:avLst/>
          </a:prstGeom>
          <a:solidFill>
            <a:srgbClr val="B445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6163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6108192"/>
            <a:ext cx="10049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迷ったら、変えないでください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元に戻せないものが、この4つです。ほかのことは、ほぼ元に戻せます。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作業前にバックアップを取る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5分で終わります。これをやれば、失敗しても戻せます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1508760"/>
            <a:ext cx="5230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左メニュー「All-in-One WP Migration」→ エクスポート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32257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258568"/>
            <a:ext cx="5230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「エクスポート先」→「ファイル」を選ぶ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しばらく待つと、ダウンロードのボタンが出ます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07238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008376"/>
            <a:ext cx="5230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ボタンを押して、パソコンに保存する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ファイル名に日付が入ります。そのままで結構です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822192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" y="3758184"/>
            <a:ext cx="5230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保存できたら、作業を始める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75488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" y="49560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3816" y="4956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4901184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どんなときに取るか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テーマの入れ替え前／プラグインを更新する前／固定ページを直す前。記事を書くだけなら不要です。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155448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7556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0313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42048" y="1700784"/>
            <a:ext cx="4059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戻し方（万一のとき）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同じ画面の「インポート」から、保存したファイルを選ぶだけです。ただし戻すとその後の変更も消えるため、実行前にご連絡ください。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0" y="384048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40416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03136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42048" y="3986784"/>
            <a:ext cx="4059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月1回でも取っておくと安心です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サーバー側の自動バックアップもありますが、期間に限りがあります。手元にファイルが1つあると、いざというとき確実です。保存先はパソコンでもクラウドでも構いません。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テーマを入れ替える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サイトの見た目や固定ページを直したときの反映作業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</a:t>
            </a:r>
            <a:endParaRPr lang="en-US" sz="1050" dirty="0"/>
          </a:p>
        </p:txBody>
      </p:sp>
      <p:pic>
        <p:nvPicPr>
          <p:cNvPr id="6" name="Image 0" descr="/sessions/compassionate-sweet-heisenberg/mnt/dev-aspath-life-main/_wp移行素材/★引継ぎ資料/画像/05_テーマのアップロード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6675120" cy="32524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463040"/>
            <a:ext cx="6675120" cy="325241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15270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98080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36992" y="1463040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 → テーマ → 新規追加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218541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36992" y="2121408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「テーマのアップロード」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aspath-theme.zip を選びます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98080" y="284378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2779776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「既存のものを置き換える」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上書きの確認が出ます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98080" y="3502152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49808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936992" y="3438144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「テーマを有効化」は押さない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すでに有効なので不要です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98080" y="4160520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9808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36992" y="4096512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キャッシュを消す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次のページで説明します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" y="512064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3816" y="53218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381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252728" y="5266944"/>
            <a:ext cx="10094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ZIPファイルは、幸喜がお渡ししたものだけを使ってください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「テーマを作る.ps1」で生成された aspath-theme.zip です。古いZIPを上げると、直したはずの内容が巻き戻ります。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固定ページの文章を直す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管理画面からは直せません。パソコンでの作業になります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Pull origin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Desktop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78024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9464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HTMLを直す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51176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about.html など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53128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テーマを作る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.ps1 を実行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5352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6792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ZIPを上げる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 → テーマ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29016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0456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202168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キャッシュ消す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02168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 Cache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12680" y="155448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04120" y="1691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0085832" y="21031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 origin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085832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Desktop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" y="32004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34015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3816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52728" y="3346704"/>
            <a:ext cx="4517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①のPullを忘れると、あとで衝突します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他の人が先に直していると、同じ場所を書き換えてしまいます。作業前に必ずPullしてください。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144768" y="32004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64224" y="34015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6422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03136" y="3346704"/>
            <a:ext cx="4517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文章が検索で見つからないとき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HTMLの中では途中にタグが挟まっています。文章全部ではなく、10〜15文字だけで検索してください。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94360" y="489204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" y="509320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13816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252728" y="5038344"/>
            <a:ext cx="10049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「ASPATHについて」だけは、管理画面から直せます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このページだけ本文をWordPress側に移してあります。手順は別冊『★山口様向け_ASPATHについて_文章の直し方』をご覧ください。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直したのに変わらないとき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原因はほぼキャッシュです。3か所を順に消してください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783080"/>
            <a:ext cx="594360" cy="59436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116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サイトのキャッシュ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 Page Cache →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【Purge Cache】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いちばん多い原因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783080"/>
            <a:ext cx="594360" cy="59436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ブラウザのキャッシュ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Ctrl を押しながら F5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自分だけ古い場合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1554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0" y="1783080"/>
            <a:ext cx="594360" cy="59436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1832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画像のキャッシュ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1年間キャッシュされます。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差し替えは幸喜が対応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画像だけ古い場合</a:t>
            </a:r>
            <a:endParaRPr lang="en-US" sz="1100" dirty="0"/>
          </a:p>
        </p:txBody>
      </p:sp>
      <p:pic>
        <p:nvPicPr>
          <p:cNvPr id="24" name="Image 0" descr="/sessions/compassionate-sweet-heisenberg/mnt/dev-aspath-life-main/_wp移行素材/★引継ぎ資料/画像/06_キャッシュ削除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43400"/>
            <a:ext cx="4572000" cy="222768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94360" y="4343400"/>
            <a:ext cx="4572000" cy="222768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40680" y="4343400"/>
            <a:ext cx="6099048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0136" y="45445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660136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099048" y="4489704"/>
            <a:ext cx="5221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5分待ってから、もう一度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消した直後は、まだ古い画面が出ることがあります。5分ほど置いて開き直してください。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440680" y="5522976"/>
            <a:ext cx="6099048" cy="1051560"/>
          </a:xfrm>
          <a:prstGeom prst="roundRect">
            <a:avLst>
              <a:gd name="adj" fmla="val 10435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0136" y="5724144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660136" y="5724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099048" y="5669280"/>
            <a:ext cx="5221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それでも変わらなければ、ご連絡ください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キャッシュ以外の原因のことがあります。無理に触らず、そのままお伝えください。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検索結果に出る説明文を、自分で直す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SureRank というプラグインで、ページごとに設定できます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1508760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直したいページの編集画面を開く</a:t>
            </a:r>
            <a:pPr indent="0" marL="0">
              <a:buNone/>
            </a:pP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24942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185416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上のツールバーの「SureRank」を押す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右側にパネルが開きます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2862072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Engine Description を書き換える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文字数が右上に出ます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60273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" y="3538728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パネル下の「Save」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「Data updated」と出れば成功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4279392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" y="4215384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キャッシュを消す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 Cache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5276088" cy="2148840"/>
          </a:xfrm>
          <a:prstGeom prst="roundRect">
            <a:avLst>
              <a:gd name="adj" fmla="val 5106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3096" y="17556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8309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1700784"/>
            <a:ext cx="43982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書くときのコツ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全角60〜160字。頭の30字で内容が分かるように。「鹿児島」「パーキンソン病」を入れる。記号の多用は避ける。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3886200"/>
            <a:ext cx="5276088" cy="2240280"/>
          </a:xfrm>
          <a:prstGeom prst="roundRect">
            <a:avLst>
              <a:gd name="adj" fmla="val 4898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83096" y="40873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309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22008" y="4032504"/>
            <a:ext cx="43982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短すぎると、勝手に決められます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説明文が空だと、Googleが本文の冒頭を拾って表示します。かつて『「遠くて通えない…」』の10文字だけが出ていたページがありました。自分で書けば、そうなりません。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94360" y="512064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" y="53218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381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52728" y="5266944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AIに書かせるのがいちばん早いです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C章に、そのまま貼って使えるプロンプトを載せています。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Console で「見に来たか」を確かめる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反映されないとき、原因がこちら側かGoogle側かを切り分けられます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1508760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search.google.com/search-console を開く</a:t>
            </a:r>
            <a:pPr indent="0" marL="0">
              <a:buNone/>
            </a:pP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24942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185416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上の窓にURLを入れてEnter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「URL検査」になります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2862072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「前回のクロール」の日時を見る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ここが最重要です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60273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" y="3538728"/>
            <a:ext cx="5047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「公開URLをテスト」を押す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今のページをその場で読ませます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1554480"/>
            <a:ext cx="5276088" cy="1920240"/>
          </a:xfrm>
          <a:prstGeom prst="roundRect">
            <a:avLst>
              <a:gd name="adj" fmla="val 5714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1719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「前回のクロール」の読み方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103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直した日より前 → Googleがまだ来ていないだけ。設定は無関係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直した日より後なのに古い → 調査が必要。ご連絡ください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5276088" cy="1371600"/>
          </a:xfrm>
          <a:prstGeom prst="roundRect">
            <a:avLst>
              <a:gd name="adj" fmla="val 8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3096" y="385876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83096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3803904"/>
            <a:ext cx="4398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反映を早めたいとき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「インデックス登録をリクエスト」を押します。1日の上限があるので、大事なページから。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5120640"/>
            <a:ext cx="10945368" cy="1005840"/>
          </a:xfrm>
          <a:prstGeom prst="roundRect">
            <a:avLst>
              <a:gd name="adj" fmla="val 10909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" y="53218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381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52728" y="5266944"/>
            <a:ext cx="1006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検索窓だけで進捗を見る方法もあります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Googleで  site:aspath-life.com  と検索すると、登録されているページの一覧が出ます。古い表記が減っていれば順調です。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見る数字は、3つだけで足ります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全部見ようとすると続きません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何人が来たか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F2F5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8163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 →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ユーザー獲得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先月と比べて増えているか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表示回数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どのページが読まれたか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274320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F2F5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8163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エンゲージメント →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ページとスクリーン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プランと料金が多い＝検討中の方が多い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15544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CE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どんな言葉で検索して来たか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274320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F2F5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66760" y="28163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Console →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検索結果のパフォーマンス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次に書く記事のヒントになります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21208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" y="54132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3816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5358384"/>
            <a:ext cx="10049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スマホアプリが便利です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「Google アナリティクス」アプリを入れておくと、移動中でも訪問者数を確認できます。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コメントスパムへの備え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放置しても表示されませんが、溜まると見落としの原因になります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47</a:t>
            </a:r>
            <a:endParaRPr lang="en-US" sz="1050" dirty="0"/>
          </a:p>
        </p:txBody>
      </p:sp>
      <p:pic>
        <p:nvPicPr>
          <p:cNvPr id="6" name="Image 0" descr="/sessions/compassionate-sweet-heisenberg/mnt/dev-aspath-life-main/_wp移行素材/★引継ぎ資料/画像/03_コメント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6309360" cy="30742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463040"/>
            <a:ext cx="6309360" cy="307420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86600" y="1508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見分け方（基本編のおさらい）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18745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英語で書かれている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知らないサイトへのリンクがある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記事の内容と噛み合っていない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中身のない称賛だけ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86600" y="3383280"/>
            <a:ext cx="4480560" cy="1600200"/>
          </a:xfrm>
          <a:prstGeom prst="roundRect">
            <a:avLst>
              <a:gd name="adj" fmla="val 6857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06056" y="35844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06056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44968" y="3529584"/>
            <a:ext cx="3602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減らす設定もあります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 → ディスカッション で「〇日より古い記事のコメントを閉じる」を有効にすると、古い記事が狙われにくくなります。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5166360"/>
            <a:ext cx="10945368" cy="960120"/>
          </a:xfrm>
          <a:prstGeom prst="roundRect">
            <a:avLst>
              <a:gd name="adj" fmla="val 1142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3816" y="536752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3816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5312664"/>
            <a:ext cx="10067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サンプル記事は削除をおすすめします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WordPress初期の練習用記事（英語の題名のもの）が下書きで残っています。スパムの標的になりやすいため、削除のご判断をお願いします。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実際に起きた不具合と、その予防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同じことが起きたとき、思い出せるように残します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　壊さない触り方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10945368" cy="1024128"/>
          </a:xfrm>
          <a:prstGeom prst="roundRect">
            <a:avLst>
              <a:gd name="adj" fmla="val 892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453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画像1枚ごとに、中身の無いページが作られていた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7452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最大156ページ。Googleのサイトリンクに「ASPATHロゴ」として拾われていた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86600" y="162763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23760" y="16733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テーマ側で自動転送するようにしました。対応済み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578608"/>
            <a:ext cx="10945368" cy="1024128"/>
          </a:xfrm>
          <a:prstGeom prst="roundRect">
            <a:avLst>
              <a:gd name="adj" fmla="val 8929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679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存在しないページの設定が、管理画面を指していた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00837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404ページのcanonicalがwp-adminのURLになっていた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7614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28072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テーマ側で打ち消しました。対応済み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712464"/>
            <a:ext cx="10945368" cy="1024128"/>
          </a:xfrm>
          <a:prstGeom prst="roundRect">
            <a:avLst>
              <a:gd name="adj" fmla="val 892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8130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表示していない質問が、Googleへの申告に入っていた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422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FAQの構造化データ6問中5問が、ページ上に存在しなかった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89534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23760" y="39410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実データから自動生成に変更。ズレなくなりました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846320"/>
            <a:ext cx="10945368" cy="1024128"/>
          </a:xfrm>
          <a:prstGeom prst="roundRect">
            <a:avLst>
              <a:gd name="adj" fmla="val 8929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94690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同じ内容のページが2つあった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7608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見出し4つが一致。導線のない方が検索に出ていた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50292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50749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301転送で1本に統合しました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5961888"/>
            <a:ext cx="10945368" cy="731520"/>
          </a:xfrm>
          <a:prstGeom prst="roundRect">
            <a:avLst>
              <a:gd name="adj" fmla="val 15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616305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6163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6108192"/>
            <a:ext cx="1006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いずれも対応済みです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同じ症状が出たら、この資料の場所をお伝えください。原因の切り分けから始められます。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B445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1488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点検と保守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2004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点検は5分で終わります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スクリプトの貼り方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点検18項目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結果の読み方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自分で直せるもの／連絡するもの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いつ点検するか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49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点検は、5分で終わります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1つずつ手で見る必要はありません。まとめて調べる道具があります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1508760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Chromeでサイトを開く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https://aspath-life.com/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3042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240280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F12 キーを押す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開発者ツールが開きます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0358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2971800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「Console」タブを選ぶ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上のほうに並んでいます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7673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" y="3703320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点検スクリプトを貼って Enter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ファイルの中身を全部コピーします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4988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" y="4434840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1〜2分待つ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結果が表になって出ます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5276088" cy="1828800"/>
          </a:xfrm>
          <a:prstGeom prst="roundRect">
            <a:avLst>
              <a:gd name="adj" fmla="val 6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3096" y="175564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8309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1700784"/>
            <a:ext cx="4398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使うファイル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ASPATHサイト点検スクリプト.js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引継ぎ資料フォルダに入っています。メモ帳で開いて、全部コピーしてください。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3566160"/>
            <a:ext cx="5276088" cy="1371600"/>
          </a:xfrm>
          <a:prstGeom prst="roundRect">
            <a:avLst>
              <a:gd name="adj" fmla="val 8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83096" y="376732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3096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22008" y="3712464"/>
            <a:ext cx="4398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サイトには何も書き込みません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読み取るだけの道具です。押し間違えてサイトが壊れることはありません。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63640" y="5120640"/>
            <a:ext cx="5276088" cy="1005840"/>
          </a:xfrm>
          <a:prstGeom prst="roundRect">
            <a:avLst>
              <a:gd name="adj" fmla="val 10909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83096" y="532180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8309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5266944"/>
            <a:ext cx="4398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ログインしたままで大丈夫です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お客様と同じ条件で読み込むよう作ってあります。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貼る場所を間違えないでください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「Console」タブです。ほかのタブでは動きません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6766560" cy="4023360"/>
          </a:xfrm>
          <a:prstGeom prst="roundRect">
            <a:avLst>
              <a:gd name="adj" fmla="val 2273"/>
            </a:avLst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21408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64653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1408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Console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9856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9856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Sources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18304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18304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Network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6752" y="164592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16752" y="16459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240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＞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ここにスクリプトを貼り付けて、Enter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743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（1〜2分後、結果がここに出ます）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2004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robots.txt  wp-adminのみ禁止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サイトマップ  23件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404ページ  404かつnoindex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/taikannunndou/ … 題名69字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636776"/>
            <a:ext cx="347472" cy="347472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2194560"/>
            <a:ext cx="365760" cy="36576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35240" y="1463040"/>
            <a:ext cx="3904488" cy="1463040"/>
          </a:xfrm>
          <a:prstGeom prst="roundRect">
            <a:avLst>
              <a:gd name="adj" fmla="val 75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4696" y="16642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54696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1609344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Console タブ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ここを選んでいないと、貼っても何も起きません。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635240" y="3063240"/>
            <a:ext cx="3904488" cy="1463040"/>
          </a:xfrm>
          <a:prstGeom prst="roundRect">
            <a:avLst>
              <a:gd name="adj" fmla="val 75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54696" y="32644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54696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3209544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入力欄に貼る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「＞」の右側です。1行目から最後まで、全部貼ってください。途中で切れると動きません。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635240" y="4663440"/>
            <a:ext cx="3904488" cy="1554480"/>
          </a:xfrm>
          <a:prstGeom prst="roundRect">
            <a:avLst>
              <a:gd name="adj" fmla="val 7059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54696" y="48646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854696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93608" y="4809744"/>
            <a:ext cx="3026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貼れないと言われたら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「許可する」と出たら、案内どおり allow pasting と打ってからもう一度貼ってください。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【1】ページごとに調べること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18ページを1つずつ、9項目で調べます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53619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08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ページが開けるか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51790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状態が200であること。404や500なら公開事故です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38528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01168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1984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題名の長さ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99339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60字以内。超えるとGoogleで「…」と切られます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414016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48716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4597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説明文の長さ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4688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60〜160字。短いとGoogleが本文から勝手に拾います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2889504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296265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29352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検索に載せる設定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94436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noindexが意図せず付いていないか。逆に、外したくないページで外れていないか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3364992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343814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34107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canonical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341985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正式なURLの指定。無いと同じ内容が複数URLで評価されます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3840480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" y="391363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4672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3886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大見出し（H1）の数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389534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ちょうど1つ。0個や2個は減点対象です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315968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438912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234440" y="43616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OGP画像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37083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LINEやSNSに貼ったときのサムネイル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4791456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" y="486460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4672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234440" y="4837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X-Robots-Tag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0" y="484632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HTMLに出ない検索除外の指定。付いていたら異常です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" y="5266944"/>
            <a:ext cx="10945368" cy="420624"/>
          </a:xfrm>
          <a:prstGeom prst="roundRect">
            <a:avLst>
              <a:gd name="adj" fmla="val 1739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" y="534009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04672" y="5340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234440" y="5312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古い言葉の残存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0" y="532180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「脳卒中専門」「ASPATH・アスパス：」が残っていないか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" y="5879592"/>
            <a:ext cx="10945368" cy="640080"/>
          </a:xfrm>
          <a:prstGeom prst="roundRect">
            <a:avLst>
              <a:gd name="adj" fmla="val 17143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3816" y="6080760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13816" y="6080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252728" y="6025896"/>
            <a:ext cx="10067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9項目。1つでも×があれば、そのページ名と理由が出力されます。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【2】サイト全体の設定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サイト全体で1回だけ調べます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556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282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robots.txt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517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検索エンジンへの案内文。wp-adminだけ禁止が正しい状態です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700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サイトマップの宣言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4323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robots.txt にサイトマップの場所が書かれているか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5844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5570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サイトマップの件数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3467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現在23件。急に増減したら何かが起きています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2062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4988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471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載ってはいけないURL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2611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下書きにしたページ、noindexにしたページ、タグ一覧が混ざっていないか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5257800"/>
            <a:ext cx="10945368" cy="1097280"/>
          </a:xfrm>
          <a:prstGeom prst="roundRect">
            <a:avLst>
              <a:gd name="adj" fmla="val 10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54589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5404104"/>
            <a:ext cx="10067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サイトマップに載ってはいけないURLが入ると、Search Consoleに警告が出る。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【3】転送と404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消したページ・移したページが、正しく処理されているか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65506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276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旧URLの転送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51790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/for-parkinsons-disease/ が転送されるか。旧URLの評価を引き継ぐ仕組みです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176272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368296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3408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添付ファイルページ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23113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画像1枚ごとのページが転送されるか。156ページが量産されていた箇所です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889504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08152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0540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下書きページ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944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/for-stroke/ が404になっているか。公開に戻っていたら事故です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3602736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79476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7673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404ページの設定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404を返し、かつnoindexであること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4315968"/>
            <a:ext cx="10945368" cy="658368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450799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4805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404のcanonical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3708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出ていないこと。かつて管理画面のURLを指していました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166360"/>
            <a:ext cx="10945368" cy="1188720"/>
          </a:xfrm>
          <a:prstGeom prst="roundRect">
            <a:avLst>
              <a:gd name="adj" fmla="val 9231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" y="53675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3816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252728" y="5312664"/>
            <a:ext cx="10067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301転送は評価を引き継ぐ。削除だと捨てることになる。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【4】構造化データ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Googleへの申告内容が、実際の画面と合っているか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556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282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HealthClub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517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業種・住所・料金の申告。トップページに出ています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700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FAQPage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4323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よくある質問の申告。トップページに6問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5844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5570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画面との一致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3467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申告した質問が、実際にページ上に表示されているか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2062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4988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471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申告内の画像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2611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指定した画像が実在するか。404を指していたことがあります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5257800"/>
            <a:ext cx="10945368" cy="1097280"/>
          </a:xfrm>
          <a:prstGeom prst="roundRect">
            <a:avLst>
              <a:gd name="adj" fmla="val 10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54589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5404104"/>
            <a:ext cx="10067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画面に無い内容の申告は規約違反。ここは特に重要。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【5】画像とキャッシュ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見た目に直結する部分です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556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282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画像の404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517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トップページの画像が全部表示できるか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10945368" cy="859536"/>
          </a:xfrm>
          <a:prstGeom prst="roundRect">
            <a:avLst>
              <a:gd name="adj" fmla="val 8511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70048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42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キャッシュの状態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4323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HIT＝効いている／BYPASS＝効いていない。管理者ログイン中は常にBYPASSです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429000"/>
            <a:ext cx="10945368" cy="2926080"/>
          </a:xfrm>
          <a:prstGeom prst="roundRect">
            <a:avLst>
              <a:gd name="adj" fmla="val 375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" y="36301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3816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3575304"/>
            <a:ext cx="10067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画像404は見ればわかるが、下の方は見落としやすい。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結果の読み方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と × を見るだけです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6766560" cy="2103120"/>
          </a:xfrm>
          <a:prstGeom prst="roundRect">
            <a:avLst>
              <a:gd name="adj" fmla="val 4348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2646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4264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問題がないとき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792224"/>
            <a:ext cx="632764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robots.txt  wp-adminのみ禁止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サイトマップ  23件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除外すべきURLは含まれていない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404ページ  404かつnoindex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FAQは画面の質問と全問一致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問題は見つかりませんでした 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886200"/>
            <a:ext cx="6766560" cy="2194560"/>
          </a:xfrm>
          <a:prstGeom prst="roundRect">
            <a:avLst>
              <a:gd name="adj" fmla="val 4167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375818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37581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問題があったとき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4123944"/>
            <a:ext cx="632764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/taikannunndou/ … 題名69字（60字以内に）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/shinsenaspath/ … 説明34字（60〜160字に）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3件の問題が見つかりました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/taikannunndou/ … 題名69字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/shinsenaspath/ … 説明34字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この一覧をコピーして、そのままご連絡ください。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1554480"/>
            <a:ext cx="3904488" cy="2103120"/>
          </a:xfrm>
          <a:prstGeom prst="roundRect">
            <a:avLst>
              <a:gd name="adj" fmla="val 5217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696" y="17556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5469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1700784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○だけなら、何もしなくてよいです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月に1回、これを確認するだけで十分です。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35240" y="3886200"/>
            <a:ext cx="3904488" cy="2194560"/>
          </a:xfrm>
          <a:prstGeom prst="roundRect">
            <a:avLst>
              <a:gd name="adj" fmla="val 5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54696" y="408736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5469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4032504"/>
            <a:ext cx="3026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×が出たら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最後に出る一覧をコピーして、そのままご連絡ください。原因の切り分けから対応します。ご自身で直せるものは、次のページにまとめています。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×が出たとき、自分で直せるもの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この3つは管理画面から直せます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45368" cy="1371600"/>
          </a:xfrm>
          <a:prstGeom prst="roundRect">
            <a:avLst>
              <a:gd name="adj" fmla="val 6667"/>
            </a:avLst>
          </a:prstGeom>
          <a:solidFill>
            <a:srgbClr val="EDF6E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73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題名が60字を超えている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764792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18196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SureRank 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Engine Title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72821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ページを開き、上のSureRankアイコン →「Search Engine Title」に短い題名を入れて Save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90088"/>
            <a:ext cx="10945368" cy="1371600"/>
          </a:xfrm>
          <a:prstGeom prst="roundRect">
            <a:avLst>
              <a:gd name="adj" fmla="val 6667"/>
            </a:avLst>
          </a:prstGeom>
          <a:solidFill>
            <a:srgbClr val="EDF6E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154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説明文が60字未満／160字超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32461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33009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SureRank 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Engine Description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20954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同じパネルの説明文欄を書き換えて Save。文字数は右上に出ます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471416"/>
            <a:ext cx="10945368" cy="1371600"/>
          </a:xfrm>
          <a:prstGeom prst="roundRect">
            <a:avLst>
              <a:gd name="adj" fmla="val 6667"/>
            </a:avLst>
          </a:prstGeom>
          <a:solidFill>
            <a:srgbClr val="EDF6E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636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noindexが意図せず付いている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4727448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0" y="47823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SureRank 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46908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同じパネルの Advanced を開き、「No index」のチェックを外して Save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5989320"/>
            <a:ext cx="10945368" cy="713232"/>
          </a:xfrm>
          <a:prstGeom prst="roundRect">
            <a:avLst>
              <a:gd name="adj" fmla="val 15385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" y="619048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" y="6190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6135624"/>
            <a:ext cx="10067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直したら、キャッシュを消してから再点検してください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 Page Cache →【Purge Cache】→ 5分ほど待って、もう一度スクリプトを実行します。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×が出たとき、ご連絡いただきたいもの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無理に触らないでください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DF5F4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636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5544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ページが開けない（状態404・500）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5544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公開事故の可能性。すぐご連絡ください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066544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BEDEC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1854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1762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canonicalが無い／404に出ている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1762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テーマ側の修正が外れた可能性があります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688336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DF5F4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28072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7980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H1が0個または2個以上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79806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テーマまたは記事本文の構造の問題です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310128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BEDEC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4290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4198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サイトマップに載ってはいけないURLが混在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4198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プラグイン設定が戻った可能性があります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931920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DF5F4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0507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0416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転送が効いていない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40416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テーマZIPが古いものに戻った可能性があります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553712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BEDEC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6725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6634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FAQが画面の質問と一致しない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46634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Googleの規約違反にあたります。至急ご連絡ください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5175504"/>
            <a:ext cx="10945368" cy="548640"/>
          </a:xfrm>
          <a:prstGeom prst="roundRect">
            <a:avLst>
              <a:gd name="adj" fmla="val 13333"/>
            </a:avLst>
          </a:prstGeom>
          <a:solidFill>
            <a:srgbClr val="FDF5F4"/>
          </a:solidFill>
          <a:ln w="12700">
            <a:solidFill>
              <a:srgbClr val="E8CDC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29437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2852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画像が404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52852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テーマZIPのアップロード漏れ、または画像の削除です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5888736"/>
            <a:ext cx="10945368" cy="777240"/>
          </a:xfrm>
          <a:prstGeom prst="roundRect">
            <a:avLst>
              <a:gd name="adj" fmla="val 14118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" y="608990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3816" y="6089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252728" y="6035040"/>
            <a:ext cx="1006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連絡は、結果をコピーして貼るだけで十分です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「点検で×が出ました」と書いて、出力された一覧をそのまま貼ってください。それだけで原因の見当がつきます。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いつ点検するか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毎日やる必要はありません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81051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月に1回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定期点検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何もしていなくても、プラグインの更新などで変わることがあります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74136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736" y="178308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DD82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48456" y="181051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テーマZIPを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上げたあと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反映の確認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11296" y="3154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入れ替えで前の修正が巻き戻ることがあります。いちばん重要なタイミングです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53912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78308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DD82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181051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プラグインを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更新したあと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影響の確認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3154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SureRankやキャッシュのプラグインは、設定が初期化されることがあります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33688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62288" y="178308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26465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08008" y="181051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検索結果が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おかしいとき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070848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原因の切り分け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70848" y="3154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サイト側の問題か、Google側の問題かが分かります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5303520"/>
            <a:ext cx="10945368" cy="822960"/>
          </a:xfrm>
          <a:prstGeom prst="roundRect">
            <a:avLst>
              <a:gd name="adj" fmla="val 13333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550468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5504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5449824"/>
            <a:ext cx="1006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カレンダーに「毎月1日：サイト点検」と入れておくのがおすすめです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5分で終わります。続けることが、いちばんの予防になります。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記事が増えたら、点検範囲を広げてください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スクリプトの先頭に1行足すだけです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　点検と保守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6766560" cy="3017520"/>
          </a:xfrm>
          <a:prstGeom prst="roundRect">
            <a:avLst>
              <a:gd name="adj" fmla="val 3030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7218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4721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ASPATHサイト点検スクリプト.js の先頭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837944"/>
            <a:ext cx="632764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点検するページ ──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ページを増やしたら、ここに1行足してください */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PAGES = [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'/', '/about/', '/services/', '/access/',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'/contact/', '/faq/', '/column/',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'/tokushoho/', '/privacy/', '/sitemap/',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'/campaign/', '/taimentraining/',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'/onlineaspath/', '/sukumiashitaisaku/',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'/taikannunndou/', '/shinsenaspath/',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'/undouwooboeruparkinson/', '/aspathkouen/',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'/新しい記事のURL/',      ← ここに足す</a:t>
            </a:r>
            <a:endParaRPr lang="en-US" sz="1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166420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3524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74152" y="1600200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記事のURLを確認する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aspath-life.com/○○/ の ○○ の部分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2414016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3524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74152" y="2350008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メモ帳でスクリプトを開く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3163824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3524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3099816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PAGES の最後に1行足す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前後の書き方をまねしてください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35240" y="3913632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352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3849624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上書き保存する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4846320"/>
            <a:ext cx="3904488" cy="1280160"/>
          </a:xfrm>
          <a:prstGeom prst="roundRect">
            <a:avLst>
              <a:gd name="adj" fmla="val 8571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4696" y="504748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54696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4992624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書き方の注意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前後を ' で囲み、行末に , を付けます。/ で始めて / で終わります。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84632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50474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4992624"/>
            <a:ext cx="5888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分からなければ、そのままで結構です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新しい記事を点検範囲に入れなくても、既存18ページの点検は問題なく動きます。ご連絡いただければ、こちらで足します。</a:t>
            </a:r>
            <a:endParaRPr lang="en-US" sz="13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5B539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1488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AIの活用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2004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任せてよいこと・人が判断すること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プロンプトの基本形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そのまま使えるプロンプト8種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AIを使うときの3つの約束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62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任せてよいこと・人が判断すること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線引きを先に決めておくと、安心して使えます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任せてよいこと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記事のネタ出し（10個出させて選ぶ）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記事の構成案づくり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本文の下書き（そのまま出さない）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検索用の説明文づくり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お客様への返信文のたたき台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長い文章を短くまとめる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イラスト生成の指示文づくり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点検結果の用語を調べる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36192"/>
            <a:ext cx="5413248" cy="3931920"/>
          </a:xfrm>
          <a:prstGeom prst="roundRect">
            <a:avLst>
              <a:gd name="adj" fmla="val 2791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5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人が判断すること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4884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医学的な正しさの最終判断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「治る」「改善する」などの効果の断定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お客様の個人情報を入れた相談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料金・営業時間などの事実確認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そのまま公開する（必ず読み直す）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サイトの設定を直接変えること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5669280"/>
            <a:ext cx="10945368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587044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" y="5870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5815584"/>
            <a:ext cx="10067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AIは、もっともらしく間違えます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とくに医学的な数字や研究の引用は、実在しないものを自信たっぷりに書くことがあります。山口様の目で必ず確認してください。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プロンプト（指示文）の基本形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この5つを順に書くだけで、精度が大きく変わります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556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誰として答えるか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16733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あなたは鹿児島のパーキンソン病専門トレーニングスタジオの運営者です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517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70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5877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理学療法士が保険外でマンツーマン指導。初回体験はLINE登録で半額4,400円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566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844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してほしいこと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5021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コラムの構成案を作ってください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42519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80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498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条件・制約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44165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1500〜2500字／見出しは質問の形／効果の断定はしない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166360"/>
            <a:ext cx="10945368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4132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出力の形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533095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表形式で／箇条書きで／3案出して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5806440"/>
            <a:ext cx="10945368" cy="822960"/>
          </a:xfrm>
          <a:prstGeom prst="roundRect">
            <a:avLst>
              <a:gd name="adj" fmla="val 13333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600760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6007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5952744"/>
            <a:ext cx="1006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うまくいかないときは、条件（④）を足してください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「もっと短く」「専門用語を減らして」「当事者が使う言葉で」など、後から追加で指示できます。会話は続けられます。</a:t>
            </a:r>
            <a:endParaRPr lang="en-US" sz="13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記事のネタを出させる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何を書くか決まらないときに使います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56362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そのまま貼って使えます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あなたは鹿児島のパーキンソン病専門トレーニングスタジオ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「ASPATH（アスパス）」の運営者です。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理学療法士が、保険外のマンツーマン運動指導を行っています。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パーキンソン病のご本人とご家族が検索しそうな悩みを、10個挙げてください。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・実際に検索窓に打ち込まれそうな言葉で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・すでに書いた記事とは重複しないこと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（すくみ足の対策／体幹の運動／振るえ／運動習慣のつけ方）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・専門用語ではなく、当事者が使う言葉で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出力は表形式で、「検索されそうな言葉」「記事の題名案」の2列でお願いします。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10個出させて、良いものだけ選ぶ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「もっと家族向けで」など追加指示もできる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記事の構成案を作らせる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書く順番が決まると、本文はぐっと楽になります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56362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①の続きに貼ります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「〇〇」というテーマでコラムを書きます。見出しの構成案を作ってください。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・全体で1500〜2500字を想定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・見出しは質問の形にする（なぜ起きるの？／どうすればいい？）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・最初に「この記事で分かること」を3行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・最後は「アスパスでできること」に自然につなげる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・断定的な効果の約束はしない（「必ず改善」などは使わない）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出力は、見出しと、その中に書く内容のメモを添えてください。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〇〇にテーマを入れるだけ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気に入らなければ「別の切り口で」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本文の下書きを作らせる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たたき台をもらって、山口様が直すのがいちばん速い進め方です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56362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②の続きに貼ります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上の構成案のうち、「△△」の部分の本文だけを書いてください。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・ですます調。1文は40字以内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・専門用語を使うときは、直後にやさしい言い換えを入れる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・「治る」「改善します」などの断定は避け、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「〜と報告されています」「〜の方が多いです」に置き換える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・箇条書きは3〜5項目まで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・読み手に呼びかける文を、最後に1文だけ入れる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見出し1つずつ書かせる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出てきた文章は必ず読み直す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検索用の説明文を作らせる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SureRank に貼る文章です。最応用編の点検項目にも直結します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56362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記事の本文を貼ってから使います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次のコラム記事について、検索結果に表示される説明文を作ってください。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・全角で60〜160字におさめる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・冒頭30字で内容が分かるように書く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・「鹿児島」「パーキンソン病」を必ず入れる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・記号（！や★）は使わない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・3案出してください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【記事の内容】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（ここに記事の本文を貼り付ける）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3案出させて選ぶ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文字数はSureRankの画面で数え直す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記事の題名を短くさせる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点検で「題名60字超え」と出たときに使います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56362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題名を貼ってから使います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次の記事の題名が長すぎるため、検索結果で切れてしまいます。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短い題名を3案作ってください。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・全角30字以内（サイト名は別に付くので含めない）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・検索されそうな言葉を必ず前半に入れる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・「｜」で区切る形にする（例：すくみ足の対策4選｜原因と今日から試せる方法）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・記事の中身とずれないようにする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【いまの題名】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（ここに貼る）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【記事の内容】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（ここに本文の冒頭を貼る）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30字以内。サイト名は含めない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｜で区切る形にそろえる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お客様への返信文を作らせる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個人情報は伏せてから貼ってください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56362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お問い合わせ内容を貼ってから使います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あなたは鹿児島のパーキンソン病専門トレーニングスタジオ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「ASPATH」の運営者です。次のお問い合わせに、返信の下書きを作ってください。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・ていねいだが、かたすぎない言葉で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・不安に寄り添う一文を、いちばん最初に置く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・診断や治療の断定はしない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（「一度お身体を見せていただいてから」に寄せる）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・初回体験は公式LINEのご登録で半額4,400円である旨を、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押しつけずに最後に添える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・200〜300字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【いただいた内容】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（お名前・連絡先は消して、ご相談の内容だけ貼る）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お名前・連絡先は必ず消す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そのまま送らず、一度読み直す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点検結果の意味を聞く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最応用編の点検で×が出たとき、用語が分からないときに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56362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点検結果を貼ってから使います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929384"/>
            <a:ext cx="701344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WordPressで作った医療系サイトの点検結果です。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それぞれの項目が何を意味するのか、専門用語を使わずに説明してください。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また、放置するとどうなるかも教えてください。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条件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・専門用語には、必ずやさしい言い換えを付ける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・「自分で直せるか」「専門家に頼むべきか」を分けて書く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・大げさに不安をあおらないでください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【点検結果】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（ここに点検スクリプトの出力を貼り付ける）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使い方のコツ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210312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用語の意味を知るために使う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3063240"/>
            <a:ext cx="3264408" cy="822960"/>
          </a:xfrm>
          <a:prstGeom prst="roundRect">
            <a:avLst>
              <a:gd name="adj" fmla="val 11111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直す作業自体は開発側へ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4160520"/>
            <a:ext cx="3264408" cy="1737360"/>
          </a:xfrm>
          <a:prstGeom prst="roundRect">
            <a:avLst>
              <a:gd name="adj" fmla="val 6316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436168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94776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33688" y="4306824"/>
            <a:ext cx="2386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どのAIでも使えます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ChatGPT・Claude・Gemini、どれでもこの書き方で動きます。幸喜はClaudeを使っています。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6035040"/>
            <a:ext cx="7452360" cy="621792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DD82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6236208"/>
            <a:ext cx="310896" cy="310896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6236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6181344"/>
            <a:ext cx="6574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出てきた文章は、必ず山口様の言葉に直してください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⑧ イラストを作らせる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ブランドの色を守るため、必ず色を指定してください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452360" cy="3657600"/>
          </a:xfrm>
          <a:prstGeom prst="roundRect">
            <a:avLst>
              <a:gd name="adj" fmla="val 2500"/>
            </a:avLst>
          </a:prstGeom>
          <a:solidFill>
            <a:srgbClr val="F2F5F6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563624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636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画像生成AIに貼ります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1929384"/>
            <a:ext cx="701344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ASPATH（鹿児島のパーキンソン病専門トレーニングスタジオ）の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ウェブサイト用のイラストを作ってください。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【描いてほしい場面】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（例：椅子に座って足を上げる運動を、笑顔で行う高齢の女性）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【色の指定】※必ず守ってください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・服やアクセントは オレンジ（#F4A261）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・線や濃い部分は 紺色（#264653）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・背景は生成りの白（#F4E9D8）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【絵の雰囲気】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・やわらかい手描き風。線は細め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・写実的すぎず、親しみのある表情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・医療器具や病院らしさは出さない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・文字は入れない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16916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色の見本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21031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79408" y="2139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オレンジ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79408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#F4A261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2788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64653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79408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紺色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3081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#264653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75320" y="34747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4E9D8"/>
          </a:solidFill>
          <a:ln w="12700">
            <a:solidFill>
              <a:srgbClr val="C9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79408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生成り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79408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#F4E9D8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75320" y="4251960"/>
            <a:ext cx="3264408" cy="1097280"/>
          </a:xfrm>
          <a:prstGeom prst="roundRect">
            <a:avLst>
              <a:gd name="adj" fmla="val 1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94776" y="445312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94776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33688" y="4398264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何度も作り直せます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1回で決まりません。「もっと明るく」など足していきます。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94360" y="5486400"/>
            <a:ext cx="10945368" cy="1051560"/>
          </a:xfrm>
          <a:prstGeom prst="roundRect">
            <a:avLst>
              <a:gd name="adj" fmla="val 10435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" y="568756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3816" y="5687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5632704"/>
            <a:ext cx="10067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できた画像は、横1200ピクセルくらいに縮めてから入れてください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大きすぎるとページが重くなります。詳しいプロンプトは別冊『★イラスト生成プロンプト集』にもまとめています。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AIを使うときの、3つの約束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この3つを守れば、安心して使えます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　AIの活用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0945368" cy="1417320"/>
          </a:xfrm>
          <a:prstGeom prst="roundRect">
            <a:avLst>
              <a:gd name="adj" fmla="val 774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個人情報を貼らない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17627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お名前・ご連絡先・ご住所・診断名は、AIに貼らないでください。返信文を作るときは「A様」などに置き換え、ご相談の内容だけを貼ります。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090672"/>
            <a:ext cx="10945368" cy="1417320"/>
          </a:xfrm>
          <a:prstGeom prst="roundRect">
            <a:avLst>
              <a:gd name="adj" fmla="val 774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02152"/>
            <a:ext cx="594360" cy="59436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021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2735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医学的な内容は必ず確認する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71246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AIは、実在しない研究や数字を、自信たっぷりに書くことがあります。数字や引用が出てきたら、そのまま使わないでください。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626864"/>
            <a:ext cx="10945368" cy="1417320"/>
          </a:xfrm>
          <a:prstGeom prst="roundRect">
            <a:avLst>
              <a:gd name="adj" fmla="val 7742"/>
            </a:avLst>
          </a:prstGeom>
          <a:solidFill>
            <a:srgbClr val="F4E9D8"/>
          </a:solidFill>
          <a:ln w="12700">
            <a:solidFill>
              <a:srgbClr val="E2D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038344"/>
            <a:ext cx="594360" cy="59436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38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8097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そのまま公開しない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5248656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AIの文章は、どこか他人の言葉です。山口様の言葉に直してから公開してください。読み直すだけで、ぐっと良くなります。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6199632"/>
            <a:ext cx="10945368" cy="475488"/>
          </a:xfrm>
          <a:prstGeom prst="roundRect">
            <a:avLst>
              <a:gd name="adj" fmla="val 23077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" y="6400800"/>
            <a:ext cx="310896" cy="310896"/>
          </a:xfrm>
          <a:prstGeom prst="ellipse">
            <a:avLst/>
          </a:prstGeom>
          <a:solidFill>
            <a:srgbClr val="B445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" y="6400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6345936"/>
            <a:ext cx="10067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薬機法・景品表示法の観点でも、効果の断定は避けてください。</a:t>
            </a:r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051560" cy="1051560"/>
          </a:xfrm>
          <a:prstGeom prst="roundRect">
            <a:avLst>
              <a:gd name="adj" fmla="val 50000"/>
            </a:avLst>
          </a:prstGeom>
          <a:solidFill>
            <a:srgbClr val="5270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巻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第巻部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1488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巻末資料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2004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用語集 ─ この資料に出てくる言葉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資料の一覧 ─ どこに何があるか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アカウントと連絡先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年間の運用カレンダー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74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用語集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この資料に出てくる言葉を、やさしく言い換えます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第巻部　巻末資料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1408176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サイトの見た目を決めるファイル一式。このサイトでは固定ページの文章も入っています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1847088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1883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883664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WordPressに機能を足す部品。フォームや検索対策など、16個入っています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322576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2359152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表示を速くするための一時保存。直したのに変わらない原因の大半がこれです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798064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スラッグ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355848" y="2834640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URLの末尾の文字。/about/ の about の部分。変えると検索順位が失われます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273552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canonical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3310128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「このページの正式なURLはこれです」という指定。重複を防ぎます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" y="3785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noindex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355848" y="3785616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「このページは検索結果に載せないでください」という指定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224528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301転送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355848" y="4261104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「引っ越しました」と伝える仕組み。旧URLの評価を引き継げます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700016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0392" y="4736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構造化データ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355848" y="4736592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業種や住所を、機械が読める形でGoogleに伝えるデータ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5175504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0392" y="5212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OGP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355848" y="5212080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LINEやSNSに貼ったときに出るサムネイルと説明文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" y="5650992"/>
            <a:ext cx="10945368" cy="438912"/>
          </a:xfrm>
          <a:prstGeom prst="roundRect">
            <a:avLst>
              <a:gd name="adj" fmla="val 16667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0392" y="5687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355848" y="5687568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サイト内のページ一覧。Googleに「見に来てください」と伝えるためのもの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資料の一覧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この総合版のほかに、目的別の冊子と手順書があります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第巻部　巻末資料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★ASPATH_サイト運用マニュアル_基本編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099048" y="1408176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日々の更新。実画面の写真つき。レクチャーで使います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1883664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192024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★ASPATH_サイト運用マニュアル_応用編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99048" y="1920240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壊さない触り方と、検索対策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395728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243230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★ASPATH_サイト運用マニュアル_最応用編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99048" y="2432304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公開後の点検と、直し方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907792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294436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★ASPATH_サイト運用マニュアル_AI活用編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99048" y="2944368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そのまま使えるプロンプト8種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419856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345643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ASPATHサイト点検スクリプト.js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99048" y="3456432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Chromeに貼るだけで18項目を点検します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931920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" y="396849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★SEO対策の実施記録.md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99048" y="3968496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全13ページのタイトル・説明文の設定内容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443984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448056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★Search Console_インデックス登録の再リクエスト手順.md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099048" y="4480560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Googleへの反映を早める操作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956048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0392" y="499262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★キャッシュが消えないとき.md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4992624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更新が画面に出ないときの対処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5468112"/>
            <a:ext cx="10945368" cy="475488"/>
          </a:xfrm>
          <a:prstGeom prst="roundRect">
            <a:avLst>
              <a:gd name="adj" fmla="val 15385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0392" y="55046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★納品物チェックリスト_見積項目との対応.md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099048" y="5504688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見積5項目に対する完了状況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" y="5852160"/>
            <a:ext cx="10945368" cy="731520"/>
          </a:xfrm>
          <a:prstGeom prst="roundRect">
            <a:avLst>
              <a:gd name="adj" fmla="val 15000"/>
            </a:avLst>
          </a:prstGeom>
          <a:solidFill>
            <a:srgbClr val="F4E9D8"/>
          </a:solidFill>
          <a:ln w="15240">
            <a:solidFill>
              <a:srgbClr val="2646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" y="6053328"/>
            <a:ext cx="310896" cy="310896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13816" y="6053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52728" y="5998464"/>
            <a:ext cx="1006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置き場所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_wp移行素材／★引継ぎ資料 フォルダに入っています。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FEEF6"/>
          </a:solidFill>
          <a:ln w="15240">
            <a:solidFill>
              <a:srgbClr val="5B539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53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読むだけ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アカウントと連絡先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引継ぎで、いちばん大事なページです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第巻部　巻末資料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081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 管理画面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1408176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https://aspath-life.com/wp-admin/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1938528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19751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19751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エックスサーバー（契約は ASPATH 様名義）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505456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共有Googleアカウント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636008" y="2542032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aspathlife@gmail.com（アナリティクス・Search Console の管理元）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072384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アナリティクス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3108960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測定ID G-17MTFN7SQ4　※絶対に変更しないでください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639312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3675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Console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3675888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https://search.google.com/search-console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4206240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4E9D8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" y="4242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ソース管理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4242816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GitHub（GitHub Desktop で Pull / Push）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773168"/>
            <a:ext cx="10945368" cy="530352"/>
          </a:xfrm>
          <a:prstGeom prst="roundRect">
            <a:avLst>
              <a:gd name="adj" fmla="val 13793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4809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公式LINE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80974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https://lin.ee/5kiH4i3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5486400"/>
            <a:ext cx="10945368" cy="1097280"/>
          </a:xfrm>
          <a:prstGeom prst="roundRect">
            <a:avLst>
              <a:gd name="adj" fmla="val 10000"/>
            </a:avLst>
          </a:prstGeom>
          <a:solidFill>
            <a:srgbClr val="FBEDEC"/>
          </a:solidFill>
          <a:ln w="15240">
            <a:solidFill>
              <a:srgbClr val="B445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" y="5687568"/>
            <a:ext cx="310896" cy="310896"/>
          </a:xfrm>
          <a:prstGeom prst="ellipse">
            <a:avLst/>
          </a:prstGeom>
          <a:solidFill>
            <a:srgbClr val="B4453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3816" y="5687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52728" y="5632704"/>
            <a:ext cx="10067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クローズ前に、必ず確認してください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aspathlife@gmail.com のパスワードを山口様が把握していること。テーマZIPの最新版が山口様の手元にもあること。この2つが無いと、開発担当が離れたあとに誰も設定を変更できなくなります。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329184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555480" y="3291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年間の運用カレンダー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これだけ回していれば、サイトは健全に保てます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第巻部　巻末資料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0945368" cy="658368"/>
          </a:xfrm>
          <a:prstGeom prst="roundRect">
            <a:avLst>
              <a:gd name="adj" fmla="val 1388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490472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490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毎週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お申し込みの確認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517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見落としが商売に直結します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103120"/>
            <a:ext cx="10945368" cy="658368"/>
          </a:xfrm>
          <a:prstGeom prst="roundRect">
            <a:avLst>
              <a:gd name="adj" fmla="val 1388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221992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B445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22219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月1回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22494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サイト点検（5分）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249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第6部のスクリプトを貼るだけ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2834640"/>
            <a:ext cx="10945368" cy="658368"/>
          </a:xfrm>
          <a:prstGeom prst="roundRect">
            <a:avLst>
              <a:gd name="adj" fmla="val 1388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2953512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月1〜2回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2980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コラムを1本書く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9809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第7部のプロンプトで下書きを作れます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566160"/>
            <a:ext cx="10945368" cy="658368"/>
          </a:xfrm>
          <a:prstGeom prst="roundRect">
            <a:avLst>
              <a:gd name="adj" fmla="val 1388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685032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26465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6850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随時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712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お知らせを出す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7124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休業・キャンペーンなど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297680"/>
            <a:ext cx="10945368" cy="658368"/>
          </a:xfrm>
          <a:prstGeom prst="roundRect">
            <a:avLst>
              <a:gd name="adj" fmla="val 1388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416552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52707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44165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半年に1回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4443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料金や情報の見直し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443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古い金額が残っていないか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" y="5029200"/>
            <a:ext cx="10945368" cy="658368"/>
          </a:xfrm>
          <a:prstGeom prst="roundRect">
            <a:avLst>
              <a:gd name="adj" fmla="val 13889"/>
            </a:avLst>
          </a:prstGeom>
          <a:solidFill>
            <a:srgbClr val="F7FA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5148072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5B539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8680" y="51480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年1回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651760" y="5175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バックアップの保存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1755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手元にファイルを1つ残す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" y="5870448"/>
            <a:ext cx="10945368" cy="777240"/>
          </a:xfrm>
          <a:prstGeom prst="roundRect">
            <a:avLst>
              <a:gd name="adj" fmla="val 14118"/>
            </a:avLst>
          </a:prstGeom>
          <a:solidFill>
            <a:srgbClr val="EDF6EE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" y="6071616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13816" y="6071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252728" y="6016752"/>
            <a:ext cx="10067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毎週の申込確認と、月1回の点検。この2つだけは続けてください。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あとは、余裕があるときで構いません。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このサイトは、山口様が「必要とする方に、効果的な運動を届ける」ために作りました。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サイトは、作った日がいちばん新しいのではありません。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FC8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書き足し、直し続けたぶんだけ、価値が積み上がっていきます。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10515600" cy="1463040"/>
          </a:xfrm>
          <a:prstGeom prst="roundRect">
            <a:avLst>
              <a:gd name="adj" fmla="val 8750"/>
            </a:avLst>
          </a:prstGeom>
          <a:solidFill>
            <a:srgbClr val="1E3A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41605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分からなくなったら、そのままご連絡ください。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元に戻せないことは、ほとんどありません。無理に触らず、聞いていただくのがいちばん早いです。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　ASPATH ウェブサイト 総合ドキュメント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384280" y="6355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ASPATH ウェブサイト 総合ドキュメント</dc:title>
  <dc:subject>PptxGenJS Presentation</dc:subject>
  <dc:creator>ASPATH</dc:creator>
  <cp:lastModifiedBy>ASPATH</cp:lastModifiedBy>
  <cp:revision>1</cp:revision>
  <dcterms:created xsi:type="dcterms:W3CDTF">2026-09-03T17:11:28Z</dcterms:created>
  <dcterms:modified xsi:type="dcterms:W3CDTF">2026-09-03T17:11:28Z</dcterms:modified>
</cp:coreProperties>
</file>